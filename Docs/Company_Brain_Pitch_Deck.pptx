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bb676d6-44cc-ffa6-5c01-3abcb79decf3}">
          <p14:sldIdLst>
            <p14:sldId id="256"/>
          </p14:sldIdLst>
        </p14:section>
        <p14:section name="Product" id="{e995cdeb-058a-06f0-7d13-69c178337187}">
          <p14:sldIdLst>
            <p14:sldId id="257"/>
            <p14:sldId id="258"/>
            <p14:sldId id="259"/>
          </p14:sldIdLst>
        </p14:section>
        <p14:section name="Business" id="{a78067cc-7bb6-c343-4ad8-cdae6183403c}">
          <p14:sldIdLst>
            <p14:sldId id="260"/>
            <p14:sldId id="261"/>
            <p14:sldId id="262"/>
            <p14:sldId id="263"/>
            <p14:sldId id="264"/>
            <p14:sldId id="265"/>
            <p14:sldId id="266"/>
          </p14:sldIdLst>
        </p14:section>
        <p14:section name="Close" id="{d4095e41-f041-6bcf-4aae-8e33c8ab23a1}">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E2A6B"/>
                </a:solidFill>
                <a:latin typeface="+mn-lt"/>
              </a:defRPr>
            </a:pPr>
            <a:r>
              <a:rPr sz="1400" b="0" i="0" u="none" strike="noStrike">
                <a:solidFill>
                  <a:srgbClr val="2E2A6B"/>
                </a:solidFill>
                <a:latin typeface="+mn-lt"/>
              </a:rPr>
              <a:t>Revenue and costs, USD thousands</a:t>
            </a:r>
          </a:p>
        </c:rich>
      </c:tx>
      <c:layout/>
      <c:overlay val="0"/>
    </c:title>
    <c:autoTitleDeleted val="0"/>
    <c:plotArea>
      <c:layout/>
      <c:barChart>
        <c:barDir val="col"/>
        <c:grouping val="clustered"/>
        <c:varyColors val="0"/>
        <c:ser>
          <c:idx val="0"/>
          <c:order val="0"/>
          <c:tx>
            <c:strRef>
              <c:f>Sheet1!$B$1</c:f>
              <c:strCache>
                <c:ptCount val="1"/>
                <c:pt idx="0">
                  <c:v>Revenue</c:v>
                </c:pt>
              </c:strCache>
            </c:strRef>
          </c:tx>
          <c:spPr>
            <a:solidFill>
              <a:srgbClr val="5146E0"/>
            </a:solidFill>
            <a:effectLst/>
          </c:spPr>
          <c:invertIfNegative val="0"/>
          <c:dLbls>
            <c:numFmt formatCode="#,##0" sourceLinked="0"/>
            <c:txPr>
              <a:bodyPr/>
              <a:lstStyle/>
              <a:p>
                <a:pPr>
                  <a:defRPr b="0" i="0" strike="noStrike" sz="1200" u="none">
                    <a:solidFill>
                      <a:srgbClr val="1A1838"/>
                    </a:solidFill>
                    <a:latin typeface="+mn-lt"/>
                  </a:defRPr>
                </a:pPr>
              </a:p>
            </c:txPr>
            <c:showLegendKey val="0"/>
            <c:showVal val="1"/>
            <c:showCatName val="0"/>
            <c:showSerName val="0"/>
            <c:showPercent val="0"/>
            <c:showBubbleSize val="0"/>
            <c:showLeaderLines val="0"/>
          </c:dLbls>
          <c:cat>
            <c:multiLvlStrRef>
              <c:f>Sheet1!$A$2:$A$4</c:f>
              <c:multiLvlStrCache>
                <c:ptCount val="3"/>
                <c:lvl>
                  <c:pt idx="0">
                    <c:v>2027</c:v>
                  </c:pt>
                  <c:pt idx="1">
                    <c:v>2028</c:v>
                  </c:pt>
                  <c:pt idx="2">
                    <c:v>2029</c:v>
                  </c:pt>
                </c:lvl>
              </c:multiLvlStrCache>
            </c:multiLvlStrRef>
          </c:cat>
          <c:val>
            <c:numRef>
              <c:f>Sheet1!$B$2:$B$4</c:f>
              <c:numCache>
                <c:formatCode>General</c:formatCode>
                <c:ptCount val="3"/>
                <c:pt idx="0">
                  <c:v>60</c:v>
                </c:pt>
                <c:pt idx="1">
                  <c:v>210</c:v>
                </c:pt>
                <c:pt idx="2">
                  <c:v>510</c:v>
                </c:pt>
              </c:numCache>
            </c:numRef>
          </c:val>
        </c:ser>
        <c:ser>
          <c:idx val="1"/>
          <c:order val="1"/>
          <c:tx>
            <c:strRef>
              <c:f>Sheet1!$C$1</c:f>
              <c:strCache>
                <c:ptCount val="1"/>
                <c:pt idx="0">
                  <c:v>Costs</c:v>
                </c:pt>
              </c:strCache>
            </c:strRef>
          </c:tx>
          <c:spPr>
            <a:solidFill>
              <a:srgbClr val="DCDAF2"/>
            </a:solidFill>
            <a:effectLst/>
          </c:spPr>
          <c:invertIfNegative val="0"/>
          <c:dLbls>
            <c:numFmt formatCode="#,##0" sourceLinked="0"/>
            <c:txPr>
              <a:bodyPr/>
              <a:lstStyle/>
              <a:p>
                <a:pPr>
                  <a:defRPr b="0" i="0" strike="noStrike" sz="1200" u="none">
                    <a:solidFill>
                      <a:srgbClr val="1A1838"/>
                    </a:solidFill>
                    <a:latin typeface="+mn-lt"/>
                  </a:defRPr>
                </a:pPr>
              </a:p>
            </c:txPr>
            <c:showLegendKey val="0"/>
            <c:showVal val="1"/>
            <c:showCatName val="0"/>
            <c:showSerName val="0"/>
            <c:showPercent val="0"/>
            <c:showBubbleSize val="0"/>
            <c:showLeaderLines val="0"/>
          </c:dLbls>
          <c:cat>
            <c:multiLvlStrRef>
              <c:f>Sheet1!$A$2:$A$4</c:f>
              <c:multiLvlStrCache>
                <c:ptCount val="3"/>
                <c:lvl>
                  <c:pt idx="0">
                    <c:v>2027</c:v>
                  </c:pt>
                  <c:pt idx="1">
                    <c:v>2028</c:v>
                  </c:pt>
                  <c:pt idx="2">
                    <c:v>2029</c:v>
                  </c:pt>
                </c:lvl>
              </c:multiLvlStrCache>
            </c:multiLvlStrRef>
          </c:cat>
          <c:val>
            <c:numRef>
              <c:f>Sheet1!$C$2:$C$4</c:f>
              <c:numCache>
                <c:formatCode>General</c:formatCode>
                <c:ptCount val="3"/>
                <c:pt idx="0">
                  <c:v>150</c:v>
                </c:pt>
                <c:pt idx="1">
                  <c:v>310</c:v>
                </c:pt>
                <c:pt idx="2">
                  <c:v>480</c:v>
                </c:pt>
              </c:numCache>
            </c:numRef>
          </c:val>
        </c:ser>
        <c:dLbls>
          <c:numFmt formatCode="#,##0" sourceLinked="0"/>
          <c:txPr>
            <a:bodyPr/>
            <a:lstStyle/>
            <a:p>
              <a:pPr>
                <a:defRPr b="0" i="0" strike="noStrike" sz="1200" u="none">
                  <a:solidFill>
                    <a:srgbClr val="1A183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689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A183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Use of funds</c:v>
                </c:pt>
              </c:strCache>
            </c:strRef>
          </c:tx>
          <c:spPr>
            <a:solidFill>
              <a:schemeClr val="accent1"/>
            </a:solidFill>
            <a:ln w="9525" cap="flat">
              <a:solidFill>
                <a:srgbClr val="F9F9F9"/>
              </a:solidFill>
              <a:prstDash val="solid"/>
              <a:round/>
            </a:ln>
            <a:effectLst/>
          </c:spPr>
          <c:dPt>
            <c:idx val="0"/>
            <c:bubble3D val="0"/>
            <c:spPr>
              <a:solidFill>
                <a:srgbClr val="5146E0"/>
              </a:solidFill>
              <a:effectLst/>
            </c:spPr>
          </c:dPt>
          <c:dPt>
            <c:idx val="1"/>
            <c:bubble3D val="0"/>
            <c:spPr>
              <a:solidFill>
                <a:srgbClr val="B3196F"/>
              </a:solidFill>
              <a:effectLst/>
            </c:spPr>
          </c:dPt>
          <c:dPt>
            <c:idx val="2"/>
            <c:bubble3D val="0"/>
            <c:spPr>
              <a:solidFill>
                <a:srgbClr val="6B6890"/>
              </a:solidFill>
              <a:effectLst/>
            </c:spPr>
          </c:dPt>
          <c:dPt>
            <c:idx val="3"/>
            <c:bubble3D val="0"/>
            <c:spPr>
              <a:solidFill>
                <a:srgbClr val="DCDAF2"/>
              </a:solidFill>
              <a:effectLst/>
            </c:spPr>
          </c:dPt>
          <c:dLbls>
            <c:dLbl>
              <c:idx val="0"/>
              <c:numFmt formatCode="0%" sourceLinked="0"/>
              <c:spPr/>
              <c:txPr>
                <a:bodyPr/>
                <a:lstStyle/>
                <a:p>
                  <a:pPr>
                    <a:defRPr sz="1100" b="0"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mn-lt"/>
                    </a:defRPr>
                  </a:pPr>
                </a:p>
              </c:txPr>
              <c:showLegendKey val="0"/>
              <c:showVal val="0"/>
              <c:showCatName val="0"/>
              <c:showSerName val="0"/>
              <c:showPercent val="1"/>
              <c:showBubbleSize val="0"/>
            </c:dLbl>
            <c:dLbl>
              <c:idx val="3"/>
              <c:numFmt formatCode="0%" sourceLinked="0"/>
              <c:spPr/>
              <c:txPr>
                <a:bodyPr/>
                <a:lstStyle/>
                <a:p>
                  <a:pPr>
                    <a:defRPr sz="1100" b="0"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Product and engineering</c:v>
                </c:pt>
                <c:pt idx="1">
                  <c:v>Sales and pilots</c:v>
                </c:pt>
                <c:pt idx="2">
                  <c:v>AI and cloud</c:v>
                </c:pt>
                <c:pt idx="3">
                  <c:v>Legal, PDPA, buffer</c:v>
                </c:pt>
              </c:strCache>
            </c:strRef>
          </c:cat>
          <c:val>
            <c:numRef>
              <c:f>Sheet1!$B$2:$B$5</c:f>
              <c:numCache>
                <c:ptCount val="4"/>
                <c:pt idx="0">
                  <c:v>45</c:v>
                </c:pt>
                <c:pt idx="1">
                  <c:v>30</c:v>
                </c:pt>
                <c:pt idx="2">
                  <c:v>15</c:v>
                </c:pt>
                <c:pt idx="3">
                  <c:v>10</c:v>
                </c:pt>
              </c:numCache>
            </c:numRef>
          </c:val>
        </c:ser>
        <c:firstSliceAng val="0"/>
        <c:holeSize val="55"/>
      </c:doughnutChart>
      <c:spPr>
        <a:noFill/>
        <a:ln>
          <a:noFill/>
        </a:ln>
        <a:effectLst/>
      </c:spPr>
    </c:plotArea>
    <c:legend>
      <c:legendPos val="r"/>
      <c:overlay val="0"/>
      <c:txPr>
        <a:bodyPr/>
        <a:lstStyle/>
        <a:p>
          <a:pPr>
            <a:defRPr sz="1100">
              <a:solidFill>
                <a:srgbClr val="1A1838"/>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Pamuditha from Finebase Labs. This is Company Brain: AI agents that run a company's daily operations, while its people stay in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and mid-size companies in Sri Lanka run their operations by hand. Care chats, refunds, billing, scheduling: one case at a time. The know-how sits in people's heads and inboxes, so when someone leaves, it leaves too. Take one real case. A customer asks for a full refund on an 85,000 rupee annual plan, 41 days after buying. The policy says 30 days. Today someone guesses, nobody records why, and next month the same case starts from zero. And the AI tools people try today have no approvals and no audit trail. Under the new data law, that is a real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Company Brain fixes this. Every job runs as a loop. A sensor notices what happened, like that refund email. A policy decides what is allowed, before anything acts. The agent does the work through the company's own systems. A quality gate checks the result, and anything risky waits for the right person. On screen, a change that touches money waits for two leaders, with a replay of its effect on 318 past runs. And every night, the cases people solved become reusable skills. So the next refund like this one goes straight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Sri Lanka's data protection rules start on 1 January 2027, eleven weeks from today. AI agents have moved from chatting to acting, a market growing 46% a year. And running an agent now costs cents, not a salary.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sized the market bottom-up. We start with Sri Lanka's 10,405 mid-size firms. At 6,000 dollars a year each, that is a 62 million dollar serviceable market. Our three-year target is 120 customers: about 2 new customers a month in year one, 2 and a half in year two, and 6 in year three. That is 720 thousand dollars of annual revenue, about 1% of these firms.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sell a monthly subscription per company, in three fixed tiers: 299, 699 and 1,499 dollars. We set 299 because one support hire in Colombo costs about 120,000 rupees a month and covers one shift, while our agents work all day. Our expected mix gives 500 dollars a month on average. Unit economics: winning a customer costs us about 1,800 dollars, mostly the free pilot and founder time. Gross margin is 75%, so we earn that back in 5 months. Over a 25-month customer life, each customer brings 9,375 dollars of gross profit. That is a 5 to 1 return on what we spend to win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just an idea on slides. The product works today. We have 35 working screens across three tiers, for leaders, stewards and operators, and a 15-stage governed pipeline with typed contracts from the first email to the audit log. We recorded 27 real use cases on the live app. And we run our own company, Finebase Labs, on it as tenant number one. Next: by the end of January, 5 signed letters of intent and 3 paid pilots. So far we have spoken to [number] SMEs.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customers are Sri Lankan service SMEs with 20 to 200 staff, a busy support inbox and online payments. The buyer is the founder or COO. In year one, I do the selling myself. We contact 300 SMEs from our network and SLASSCOM members, run 80 demos and 40 free one-month pilots, and convert half, so 20 paying customers. Each pilot costs us about 900 dollars. In year two, accounting and audit firms resell us as their PDPA answer, for a 20% partner fee. In year three, we hire two salespeople and start pilots in the Maldives and Bangladesh.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have competition. Companies use staff and spreadsheets, Zapier rules, or support bots like Intercom Fin. Tools like Glean find answers but don't act. Agentforce and Sierra act and govern, but at enterprise prices. A buyer needs agents that really do the work, under real governance, priced for an SME, with Sri Lankan personal data masked. That is the corner we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built ChainSight, live dashboards with separate views for a District Secretariat, Divisional Secretariats and field officers. Company Brain uses the same tier idea, only now the field workers are agents. I designed and built the console and the pipeline. [Co-founder: name, role and one relevant line.] We are adding two advisors, each with one job: a data protection lawyer, and an SME sales leader.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grows from 60 thousand dollars in 2027 to 510 thousand in 2029. Costs grow slower, so we break even in year three, at 120 customers and 13 people. Net burn stays around 8 thousand dollars a month in the first two years, and we plan for churn under 4% a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raising 250 thousand dollars, pre-seed, for 24 months of runway. 45% goes to product, 30% to sales and pilots, 15% to AI and cloud, and 10% to legal, PDPA and a buffer. By month 24, it buys 50 paying customers and 300 thousand dollars of annual recurring revenue. Those are the numbers we need for our seed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company deserves a brain it can trust. Thank you. My details are on the screen, and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7863840" cy="1234440"/>
          </a:xfrm>
          <a:prstGeom prst="rect">
            <a:avLst/>
          </a:prstGeom>
          <a:noFill/>
          <a:ln/>
        </p:spPr>
        <p:txBody>
          <a:bodyPr wrap="square" rtlCol="0"/>
          <a:lstStyle>
            <a:lvl1pPr algn="l" indent="0" marL="0">
              <a:buNone/>
              <a:defRPr lang="en-US" sz="5400" b="1" dirty="0">
                <a:solidFill>
                  <a:schemeClr val="bg1"/>
                </a:solidFill>
                <a:latin typeface="Arial" pitchFamily="34" charset="0"/>
                <a:ea typeface="Arial" pitchFamily="34" charset="-122"/>
                <a:cs typeface="Arial" pitchFamily="34" charset="-120"/>
              </a:defRPr>
            </a:lvl1pPr>
          </a:lstStyle>
          <a:p>
            <a:pPr algn="l" indent="0" marL="0">
              <a:buNone/>
            </a:pPr>
            <a:endParaRPr lang="en-US" sz="5400" dirty="0"/>
          </a:p>
        </p:txBody>
      </p:sp>
      <p:sp>
        <p:nvSpPr>
          <p:cNvPr id="3" name="Text 0"/>
          <p:cNvSpPr/>
          <p:nvPr>
            <p:ph idx="101" type="body" hasCustomPrompt="1"/>
          </p:nvPr>
        </p:nvSpPr>
        <p:spPr>
          <a:xfrm>
            <a:off x="731520" y="3429000"/>
            <a:ext cx="7863840" cy="1097280"/>
          </a:xfrm>
          <a:prstGeom prst="rect">
            <a:avLst/>
          </a:prstGeom>
          <a:noFill/>
          <a:ln/>
        </p:spPr>
        <p:txBody>
          <a:bodyPr wrap="square" rtlCol="0"/>
          <a:lstStyle>
            <a:lvl1pPr algn="l" indent="0" marL="0">
              <a:buNone/>
              <a:defRPr lang="en-US" sz="2200" dirty="0">
                <a:solidFill>
                  <a:schemeClr val="accent6"/>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clos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600200"/>
            <a:ext cx="10698480" cy="1554480"/>
          </a:xfrm>
          <a:prstGeom prst="rect">
            <a:avLst/>
          </a:prstGeom>
          <a:noFill/>
          <a:ln/>
        </p:spPr>
        <p:txBody>
          <a:bodyPr wrap="square" rtlCol="0"/>
          <a:lstStyle>
            <a:lvl1pPr algn="l" indent="0" marL="0">
              <a:buNone/>
              <a:defRPr lang="en-US" sz="4000" b="1" dirty="0">
                <a:solidFill>
                  <a:schemeClr val="bg1"/>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3" name="Text 0"/>
          <p:cNvSpPr/>
          <p:nvPr>
            <p:ph idx="101" type="body" hasCustomPrompt="1"/>
          </p:nvPr>
        </p:nvSpPr>
        <p:spPr>
          <a:xfrm>
            <a:off x="731520" y="3429000"/>
            <a:ext cx="8686800" cy="109728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60120"/>
          </a:xfrm>
          <a:prstGeom prst="rect">
            <a:avLst/>
          </a:prstGeom>
          <a:noFill/>
          <a:ln/>
        </p:spPr>
        <p:txBody>
          <a:bodyPr wrap="square" rtlCol="0"/>
          <a:lstStyle>
            <a:lvl1pPr algn="l" indent="0" marL="0">
              <a:buNone/>
              <a:defRPr lang="en-US" sz="3200" b="1" dirty="0">
                <a:solidFill>
                  <a:schemeClr val="tx2"/>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chemeClr val="accent5"/>
                </a:solidFill>
              </a:rPr>
              <a:t>Company Brain  ·  Finebase Labs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2-1.png"/><Relationship Id="rId3"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image" Target="../media/image-12-4.png"/><Relationship Id="rId6" Type="http://schemas.openxmlformats.org/officeDocument/2006/relationships/slideLayout" Target="../slideLayouts/slideLayout4.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circle"/>
          <p:cNvSpPr/>
          <p:nvPr/>
        </p:nvSpPr>
        <p:spPr>
          <a:xfrm>
            <a:off x="731520" y="1051560"/>
            <a:ext cx="868680" cy="868680"/>
          </a:xfrm>
          <a:prstGeom prst="ellipse">
            <a:avLst/>
          </a:prstGeom>
          <a:solidFill>
            <a:schemeClr val="accent1"/>
          </a:solidFill>
          <a:ln/>
        </p:spPr>
      </p:sp>
      <p:pic>
        <p:nvPicPr>
          <p:cNvPr id="3" name="Logo icon" descr="preencoded.png">    </p:cNvPr>
          <p:cNvPicPr>
            <a:picLocks noChangeAspect="1"/>
          </p:cNvPicPr>
          <p:nvPr/>
        </p:nvPicPr>
        <p:blipFill>
          <a:blip r:embed="rId1"/>
          <a:stretch>
            <a:fillRect/>
          </a:stretch>
        </p:blipFill>
        <p:spPr>
          <a:xfrm>
            <a:off x="940003" y="1260043"/>
            <a:ext cx="451714" cy="451714"/>
          </a:xfrm>
          <a:prstGeom prst="rect">
            <a:avLst/>
          </a:prstGeom>
        </p:spPr>
      </p:pic>
      <p:sp>
        <p:nvSpPr>
          <p:cNvPr id="4" name="Text 0"/>
          <p:cNvSpPr/>
          <p:nvPr>
            <p:ph idx="100" type="title" hasCustomPrompt="1"/>
          </p:nvPr>
        </p:nvSpPr>
        <p:spPr>
          <a:xfrm>
            <a:off x="731520" y="2011680"/>
            <a:ext cx="7863840" cy="1234440"/>
          </a:xfrm>
          <a:prstGeom prst="rect">
            <a:avLst/>
          </a:prstGeom>
          <a:noFill/>
          <a:ln/>
        </p:spPr>
        <p:txBody>
          <a:bodyPr wrap="square" lIns="0" tIns="0" rIns="0" bIns="0" rtlCol="0" anchor="b"/>
          <a:lstStyle/>
          <a:p>
            <a:pPr algn="l" indent="0" marL="0">
              <a:buNone/>
            </a:pPr>
            <a:r>
              <a:rPr lang="en-US" sz="5400" b="1" dirty="0">
                <a:solidFill>
                  <a:schemeClr val="bg1"/>
                </a:solidFill>
                <a:latin typeface="Arial" pitchFamily="34" charset="0"/>
                <a:ea typeface="Arial" pitchFamily="34" charset="-122"/>
                <a:cs typeface="Arial" pitchFamily="34" charset="-120"/>
              </a:rPr>
              <a:t>Company Brain</a:t>
            </a:r>
            <a:endParaRPr lang="en-US" sz="5400" dirty="0"/>
          </a:p>
        </p:txBody>
      </p:sp>
      <p:sp>
        <p:nvSpPr>
          <p:cNvPr id="5" name="Text 0"/>
          <p:cNvSpPr/>
          <p:nvPr>
            <p:ph idx="101" type="body" hasCustomPrompt="1"/>
          </p:nvPr>
        </p:nvSpPr>
        <p:spPr>
          <a:xfrm>
            <a:off x="731520" y="3429000"/>
            <a:ext cx="7863840" cy="1097280"/>
          </a:xfrm>
          <a:prstGeom prst="rect">
            <a:avLst/>
          </a:prstGeom>
          <a:noFill/>
          <a:ln/>
        </p:spPr>
        <p:txBody>
          <a:bodyPr wrap="square" lIns="0" tIns="0" rIns="0" bIns="0" rtlCol="0" anchor="t"/>
          <a:lstStyle/>
          <a:p>
            <a:pPr algn="l" indent="0" marL="0">
              <a:buNone/>
            </a:pPr>
            <a:r>
              <a:rPr lang="en-US" sz="2200" dirty="0">
                <a:solidFill>
                  <a:schemeClr val="accent6"/>
                </a:solidFill>
              </a:rPr>
              <a:t>AI agents run your operations. Your people stay in control.</a:t>
            </a:r>
            <a:endParaRPr lang="en-US" sz="2200" dirty="0"/>
          </a:p>
        </p:txBody>
      </p:sp>
      <p:sp>
        <p:nvSpPr>
          <p:cNvPr id="6" name="Text 3"/>
          <p:cNvSpPr txBox="1"/>
          <p:nvPr/>
        </p:nvSpPr>
        <p:spPr>
          <a:xfrm>
            <a:off x="731520" y="5852160"/>
            <a:ext cx="7315200" cy="365760"/>
          </a:xfrm>
          <a:prstGeom prst="rect">
            <a:avLst/>
          </a:prstGeom>
          <a:noFill/>
          <a:ln/>
        </p:spPr>
        <p:txBody>
          <a:bodyPr wrap="square" lIns="0" tIns="0" rIns="0" bIns="0" rtlCol="0" anchor="t"/>
          <a:lstStyle/>
          <a:p>
            <a:pPr indent="0" marL="0">
              <a:buNone/>
            </a:pPr>
            <a:r>
              <a:rPr lang="en-US" sz="1400" dirty="0">
                <a:solidFill>
                  <a:schemeClr val="accent6"/>
                </a:solidFill>
              </a:rPr>
              <a:t>Finebase Labs  ·  Pre-seed pitch  ·  October 2026</a:t>
            </a:r>
            <a:endParaRPr lang="en-US" sz="1400" dirty="0"/>
          </a:p>
        </p:txBody>
      </p:sp>
      <p:sp>
        <p:nvSpPr>
          <p:cNvPr id="7" name="Loop Sensor circle"/>
          <p:cNvSpPr/>
          <p:nvPr/>
        </p:nvSpPr>
        <p:spPr>
          <a:xfrm>
            <a:off x="9509760" y="1463040"/>
            <a:ext cx="640080" cy="640080"/>
          </a:xfrm>
          <a:prstGeom prst="ellipse">
            <a:avLst/>
          </a:prstGeom>
          <a:solidFill>
            <a:schemeClr val="tx2"/>
          </a:solidFill>
          <a:ln/>
        </p:spPr>
      </p:sp>
      <p:pic>
        <p:nvPicPr>
          <p:cNvPr id="8" name="Loop Sensor icon" descr="preencoded.png">    </p:cNvPr>
          <p:cNvPicPr>
            <a:picLocks noChangeAspect="1"/>
          </p:cNvPicPr>
          <p:nvPr/>
        </p:nvPicPr>
        <p:blipFill>
          <a:blip r:embed="rId2"/>
          <a:stretch>
            <a:fillRect/>
          </a:stretch>
        </p:blipFill>
        <p:spPr>
          <a:xfrm>
            <a:off x="9663379" y="1616659"/>
            <a:ext cx="332842" cy="332842"/>
          </a:xfrm>
          <a:prstGeom prst="rect">
            <a:avLst/>
          </a:prstGeom>
        </p:spPr>
      </p:pic>
      <p:sp>
        <p:nvSpPr>
          <p:cNvPr id="9" name="Text 5"/>
          <p:cNvSpPr txBox="1"/>
          <p:nvPr/>
        </p:nvSpPr>
        <p:spPr>
          <a:xfrm>
            <a:off x="9235440" y="2139696"/>
            <a:ext cx="1188720" cy="274320"/>
          </a:xfrm>
          <a:prstGeom prst="rect">
            <a:avLst/>
          </a:prstGeom>
          <a:noFill/>
          <a:ln/>
        </p:spPr>
        <p:txBody>
          <a:bodyPr wrap="square" lIns="0" tIns="0" rIns="0" bIns="0" rtlCol="0" anchor="t"/>
          <a:lstStyle/>
          <a:p>
            <a:pPr algn="ctr" indent="0" marL="0">
              <a:buNone/>
            </a:pPr>
            <a:r>
              <a:rPr lang="en-US" sz="1100" dirty="0">
                <a:solidFill>
                  <a:schemeClr val="accent6"/>
                </a:solidFill>
              </a:rPr>
              <a:t>Sensor</a:t>
            </a:r>
            <a:endParaRPr lang="en-US" sz="1100" dirty="0"/>
          </a:p>
        </p:txBody>
      </p:sp>
      <p:sp>
        <p:nvSpPr>
          <p:cNvPr id="10" name="Loop Policy circle"/>
          <p:cNvSpPr/>
          <p:nvPr/>
        </p:nvSpPr>
        <p:spPr>
          <a:xfrm>
            <a:off x="10683782" y="2316017"/>
            <a:ext cx="640080" cy="640080"/>
          </a:xfrm>
          <a:prstGeom prst="ellipse">
            <a:avLst/>
          </a:prstGeom>
          <a:solidFill>
            <a:schemeClr val="tx2"/>
          </a:solidFill>
          <a:ln/>
        </p:spPr>
      </p:sp>
      <p:pic>
        <p:nvPicPr>
          <p:cNvPr id="11" name="Loop Policy icon" descr="preencoded.png">    </p:cNvPr>
          <p:cNvPicPr>
            <a:picLocks noChangeAspect="1"/>
          </p:cNvPicPr>
          <p:nvPr/>
        </p:nvPicPr>
        <p:blipFill>
          <a:blip r:embed="rId3"/>
          <a:stretch>
            <a:fillRect/>
          </a:stretch>
        </p:blipFill>
        <p:spPr>
          <a:xfrm>
            <a:off x="10837401" y="2469636"/>
            <a:ext cx="332842" cy="332842"/>
          </a:xfrm>
          <a:prstGeom prst="rect">
            <a:avLst/>
          </a:prstGeom>
        </p:spPr>
      </p:pic>
      <p:sp>
        <p:nvSpPr>
          <p:cNvPr id="12" name="Text 7"/>
          <p:cNvSpPr txBox="1"/>
          <p:nvPr/>
        </p:nvSpPr>
        <p:spPr>
          <a:xfrm>
            <a:off x="10409462" y="2992673"/>
            <a:ext cx="1188720" cy="274320"/>
          </a:xfrm>
          <a:prstGeom prst="rect">
            <a:avLst/>
          </a:prstGeom>
          <a:noFill/>
          <a:ln/>
        </p:spPr>
        <p:txBody>
          <a:bodyPr wrap="square" lIns="0" tIns="0" rIns="0" bIns="0" rtlCol="0" anchor="t"/>
          <a:lstStyle/>
          <a:p>
            <a:pPr algn="ctr" indent="0" marL="0">
              <a:buNone/>
            </a:pPr>
            <a:r>
              <a:rPr lang="en-US" sz="1100" dirty="0">
                <a:solidFill>
                  <a:schemeClr val="accent6"/>
                </a:solidFill>
              </a:rPr>
              <a:t>Policy</a:t>
            </a:r>
            <a:endParaRPr lang="en-US" sz="1100" dirty="0"/>
          </a:p>
        </p:txBody>
      </p:sp>
      <p:sp>
        <p:nvSpPr>
          <p:cNvPr id="13" name="Loop Tool circle"/>
          <p:cNvSpPr/>
          <p:nvPr/>
        </p:nvSpPr>
        <p:spPr>
          <a:xfrm>
            <a:off x="10235346" y="3696163"/>
            <a:ext cx="640080" cy="640080"/>
          </a:xfrm>
          <a:prstGeom prst="ellipse">
            <a:avLst/>
          </a:prstGeom>
          <a:solidFill>
            <a:schemeClr val="tx2"/>
          </a:solidFill>
          <a:ln/>
        </p:spPr>
      </p:sp>
      <p:pic>
        <p:nvPicPr>
          <p:cNvPr id="14" name="Loop Tool icon" descr="preencoded.png">    </p:cNvPr>
          <p:cNvPicPr>
            <a:picLocks noChangeAspect="1"/>
          </p:cNvPicPr>
          <p:nvPr/>
        </p:nvPicPr>
        <p:blipFill>
          <a:blip r:embed="rId4"/>
          <a:stretch>
            <a:fillRect/>
          </a:stretch>
        </p:blipFill>
        <p:spPr>
          <a:xfrm>
            <a:off x="10388965" y="3849782"/>
            <a:ext cx="332842" cy="332842"/>
          </a:xfrm>
          <a:prstGeom prst="rect">
            <a:avLst/>
          </a:prstGeom>
        </p:spPr>
      </p:pic>
      <p:sp>
        <p:nvSpPr>
          <p:cNvPr id="15" name="Text 9"/>
          <p:cNvSpPr txBox="1"/>
          <p:nvPr/>
        </p:nvSpPr>
        <p:spPr>
          <a:xfrm>
            <a:off x="9961026" y="4372819"/>
            <a:ext cx="1188720" cy="274320"/>
          </a:xfrm>
          <a:prstGeom prst="rect">
            <a:avLst/>
          </a:prstGeom>
          <a:noFill/>
          <a:ln/>
        </p:spPr>
        <p:txBody>
          <a:bodyPr wrap="square" lIns="0" tIns="0" rIns="0" bIns="0" rtlCol="0" anchor="t"/>
          <a:lstStyle/>
          <a:p>
            <a:pPr algn="ctr" indent="0" marL="0">
              <a:buNone/>
            </a:pPr>
            <a:r>
              <a:rPr lang="en-US" sz="1100" dirty="0">
                <a:solidFill>
                  <a:schemeClr val="accent6"/>
                </a:solidFill>
              </a:rPr>
              <a:t>Tool</a:t>
            </a:r>
            <a:endParaRPr lang="en-US" sz="1100" dirty="0"/>
          </a:p>
        </p:txBody>
      </p:sp>
      <p:sp>
        <p:nvSpPr>
          <p:cNvPr id="16" name="Loop Gate circle"/>
          <p:cNvSpPr/>
          <p:nvPr/>
        </p:nvSpPr>
        <p:spPr>
          <a:xfrm>
            <a:off x="8784174" y="3696163"/>
            <a:ext cx="640080" cy="640080"/>
          </a:xfrm>
          <a:prstGeom prst="ellipse">
            <a:avLst/>
          </a:prstGeom>
          <a:solidFill>
            <a:schemeClr val="accent2"/>
          </a:solidFill>
          <a:ln/>
        </p:spPr>
      </p:sp>
      <p:pic>
        <p:nvPicPr>
          <p:cNvPr id="17" name="Loop Gate icon" descr="preencoded.png">    </p:cNvPr>
          <p:cNvPicPr>
            <a:picLocks noChangeAspect="1"/>
          </p:cNvPicPr>
          <p:nvPr/>
        </p:nvPicPr>
        <p:blipFill>
          <a:blip r:embed="rId5"/>
          <a:stretch>
            <a:fillRect/>
          </a:stretch>
        </p:blipFill>
        <p:spPr>
          <a:xfrm>
            <a:off x="8937794" y="3849782"/>
            <a:ext cx="332842" cy="332842"/>
          </a:xfrm>
          <a:prstGeom prst="rect">
            <a:avLst/>
          </a:prstGeom>
        </p:spPr>
      </p:pic>
      <p:sp>
        <p:nvSpPr>
          <p:cNvPr id="18" name="Text 11"/>
          <p:cNvSpPr txBox="1"/>
          <p:nvPr/>
        </p:nvSpPr>
        <p:spPr>
          <a:xfrm>
            <a:off x="8509854" y="4372819"/>
            <a:ext cx="1188720" cy="274320"/>
          </a:xfrm>
          <a:prstGeom prst="rect">
            <a:avLst/>
          </a:prstGeom>
          <a:noFill/>
          <a:ln/>
        </p:spPr>
        <p:txBody>
          <a:bodyPr wrap="square" lIns="0" tIns="0" rIns="0" bIns="0" rtlCol="0" anchor="t"/>
          <a:lstStyle/>
          <a:p>
            <a:pPr algn="ctr" indent="0" marL="0">
              <a:buNone/>
            </a:pPr>
            <a:r>
              <a:rPr lang="en-US" sz="1100" dirty="0">
                <a:solidFill>
                  <a:schemeClr val="accent6"/>
                </a:solidFill>
              </a:rPr>
              <a:t>Gate</a:t>
            </a:r>
            <a:endParaRPr lang="en-US" sz="1100" dirty="0"/>
          </a:p>
        </p:txBody>
      </p:sp>
      <p:sp>
        <p:nvSpPr>
          <p:cNvPr id="19" name="Loop Learn circle"/>
          <p:cNvSpPr/>
          <p:nvPr/>
        </p:nvSpPr>
        <p:spPr>
          <a:xfrm>
            <a:off x="8335738" y="2316017"/>
            <a:ext cx="640080" cy="640080"/>
          </a:xfrm>
          <a:prstGeom prst="ellipse">
            <a:avLst/>
          </a:prstGeom>
          <a:solidFill>
            <a:schemeClr val="tx2"/>
          </a:solidFill>
          <a:ln/>
        </p:spPr>
      </p:sp>
      <p:pic>
        <p:nvPicPr>
          <p:cNvPr id="20" name="Loop Learn icon" descr="preencoded.png">    </p:cNvPr>
          <p:cNvPicPr>
            <a:picLocks noChangeAspect="1"/>
          </p:cNvPicPr>
          <p:nvPr/>
        </p:nvPicPr>
        <p:blipFill>
          <a:blip r:embed="rId6"/>
          <a:stretch>
            <a:fillRect/>
          </a:stretch>
        </p:blipFill>
        <p:spPr>
          <a:xfrm>
            <a:off x="8489357" y="2469636"/>
            <a:ext cx="332842" cy="332842"/>
          </a:xfrm>
          <a:prstGeom prst="rect">
            <a:avLst/>
          </a:prstGeom>
        </p:spPr>
      </p:pic>
      <p:sp>
        <p:nvSpPr>
          <p:cNvPr id="21" name="Text 13"/>
          <p:cNvSpPr txBox="1"/>
          <p:nvPr/>
        </p:nvSpPr>
        <p:spPr>
          <a:xfrm>
            <a:off x="8061418" y="2992673"/>
            <a:ext cx="1188720" cy="274320"/>
          </a:xfrm>
          <a:prstGeom prst="rect">
            <a:avLst/>
          </a:prstGeom>
          <a:noFill/>
          <a:ln/>
        </p:spPr>
        <p:txBody>
          <a:bodyPr wrap="square" lIns="0" tIns="0" rIns="0" bIns="0" rtlCol="0" anchor="t"/>
          <a:lstStyle/>
          <a:p>
            <a:pPr algn="ctr" indent="0" marL="0">
              <a:buNone/>
            </a:pPr>
            <a:r>
              <a:rPr lang="en-US" sz="1100" dirty="0">
                <a:solidFill>
                  <a:schemeClr val="accent6"/>
                </a:solidFill>
              </a:rPr>
              <a:t>Learn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6012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SMEs run operations by hand, and know-how walks out the door</a:t>
            </a:r>
            <a:endParaRPr lang="en-US" sz="3200" dirty="0"/>
          </a:p>
        </p:txBody>
      </p:sp>
      <p:sp>
        <p:nvSpPr>
          <p:cNvPr id="3" name="Pain 1 circle"/>
          <p:cNvSpPr/>
          <p:nvPr/>
        </p:nvSpPr>
        <p:spPr>
          <a:xfrm>
            <a:off x="548640" y="1691640"/>
            <a:ext cx="685800" cy="685800"/>
          </a:xfrm>
          <a:prstGeom prst="ellipse">
            <a:avLst/>
          </a:prstGeom>
          <a:solidFill>
            <a:schemeClr val="bg2"/>
          </a:solidFill>
          <a:ln/>
        </p:spPr>
      </p:sp>
      <p:pic>
        <p:nvPicPr>
          <p:cNvPr id="4" name="Pain 1 icon" descr="preencoded.png">    </p:cNvPr>
          <p:cNvPicPr>
            <a:picLocks noChangeAspect="1"/>
          </p:cNvPicPr>
          <p:nvPr/>
        </p:nvPicPr>
        <p:blipFill>
          <a:blip r:embed="rId1"/>
          <a:stretch>
            <a:fillRect/>
          </a:stretch>
        </p:blipFill>
        <p:spPr>
          <a:xfrm>
            <a:off x="713232" y="1856232"/>
            <a:ext cx="356616" cy="356616"/>
          </a:xfrm>
          <a:prstGeom prst="rect">
            <a:avLst/>
          </a:prstGeom>
        </p:spPr>
      </p:pic>
      <p:sp>
        <p:nvSpPr>
          <p:cNvPr id="5" name="Text 2"/>
          <p:cNvSpPr txBox="1"/>
          <p:nvPr/>
        </p:nvSpPr>
        <p:spPr>
          <a:xfrm>
            <a:off x="1463040" y="1691640"/>
            <a:ext cx="4937760" cy="365760"/>
          </a:xfrm>
          <a:prstGeom prst="rect">
            <a:avLst/>
          </a:prstGeom>
          <a:noFill/>
          <a:ln/>
        </p:spPr>
        <p:txBody>
          <a:bodyPr wrap="square" lIns="0" tIns="0" rIns="0" bIns="0" rtlCol="0" anchor="t"/>
          <a:lstStyle/>
          <a:p>
            <a:pPr indent="0" marL="0">
              <a:buNone/>
            </a:pPr>
            <a:r>
              <a:rPr lang="en-US" sz="2000" b="1" dirty="0">
                <a:solidFill>
                  <a:schemeClr val="tx2"/>
                </a:solidFill>
              </a:rPr>
              <a:t>Work runs on people</a:t>
            </a:r>
            <a:endParaRPr lang="en-US" sz="2000" dirty="0"/>
          </a:p>
        </p:txBody>
      </p:sp>
      <p:sp>
        <p:nvSpPr>
          <p:cNvPr id="6" name="Text 3"/>
          <p:cNvSpPr txBox="1"/>
          <p:nvPr/>
        </p:nvSpPr>
        <p:spPr>
          <a:xfrm>
            <a:off x="1463040" y="2103120"/>
            <a:ext cx="4937760" cy="822960"/>
          </a:xfrm>
          <a:prstGeom prst="rect">
            <a:avLst/>
          </a:prstGeom>
          <a:noFill/>
          <a:ln/>
        </p:spPr>
        <p:txBody>
          <a:bodyPr wrap="square" lIns="0" tIns="0" rIns="0" bIns="0" rtlCol="0" anchor="t"/>
          <a:lstStyle/>
          <a:p>
            <a:pPr indent="0" marL="0">
              <a:buNone/>
            </a:pPr>
            <a:r>
              <a:rPr lang="en-US" sz="1500" dirty="0">
                <a:solidFill>
                  <a:schemeClr val="tx1"/>
                </a:solidFill>
              </a:rPr>
              <a:t>Care chats, refunds, billing, scheduling and website updates are done by hand, one case at a time.</a:t>
            </a:r>
            <a:endParaRPr lang="en-US" sz="1500" dirty="0"/>
          </a:p>
        </p:txBody>
      </p:sp>
      <p:sp>
        <p:nvSpPr>
          <p:cNvPr id="7" name="Pain 2 circle"/>
          <p:cNvSpPr/>
          <p:nvPr/>
        </p:nvSpPr>
        <p:spPr>
          <a:xfrm>
            <a:off x="548640" y="3154680"/>
            <a:ext cx="685800" cy="685800"/>
          </a:xfrm>
          <a:prstGeom prst="ellipse">
            <a:avLst/>
          </a:prstGeom>
          <a:solidFill>
            <a:schemeClr val="bg2"/>
          </a:solidFill>
          <a:ln/>
        </p:spPr>
      </p:sp>
      <p:pic>
        <p:nvPicPr>
          <p:cNvPr id="8" name="Pain 2 icon" descr="preencoded.png">    </p:cNvPr>
          <p:cNvPicPr>
            <a:picLocks noChangeAspect="1"/>
          </p:cNvPicPr>
          <p:nvPr/>
        </p:nvPicPr>
        <p:blipFill>
          <a:blip r:embed="rId2"/>
          <a:stretch>
            <a:fillRect/>
          </a:stretch>
        </p:blipFill>
        <p:spPr>
          <a:xfrm>
            <a:off x="713232" y="3319272"/>
            <a:ext cx="356616" cy="356616"/>
          </a:xfrm>
          <a:prstGeom prst="rect">
            <a:avLst/>
          </a:prstGeom>
        </p:spPr>
      </p:pic>
      <p:sp>
        <p:nvSpPr>
          <p:cNvPr id="9" name="Text 5"/>
          <p:cNvSpPr txBox="1"/>
          <p:nvPr/>
        </p:nvSpPr>
        <p:spPr>
          <a:xfrm>
            <a:off x="1463040" y="3154680"/>
            <a:ext cx="4937760" cy="365760"/>
          </a:xfrm>
          <a:prstGeom prst="rect">
            <a:avLst/>
          </a:prstGeom>
          <a:noFill/>
          <a:ln/>
        </p:spPr>
        <p:txBody>
          <a:bodyPr wrap="square" lIns="0" tIns="0" rIns="0" bIns="0" rtlCol="0" anchor="t"/>
          <a:lstStyle/>
          <a:p>
            <a:pPr indent="0" marL="0">
              <a:buNone/>
            </a:pPr>
            <a:r>
              <a:rPr lang="en-US" sz="2000" b="1" dirty="0">
                <a:solidFill>
                  <a:schemeClr val="tx2"/>
                </a:solidFill>
              </a:rPr>
              <a:t>Know-how lives in heads and inboxes</a:t>
            </a:r>
            <a:endParaRPr lang="en-US" sz="2000" dirty="0"/>
          </a:p>
        </p:txBody>
      </p:sp>
      <p:sp>
        <p:nvSpPr>
          <p:cNvPr id="10" name="Text 6"/>
          <p:cNvSpPr txBox="1"/>
          <p:nvPr/>
        </p:nvSpPr>
        <p:spPr>
          <a:xfrm>
            <a:off x="1463040" y="3566160"/>
            <a:ext cx="4937760" cy="822960"/>
          </a:xfrm>
          <a:prstGeom prst="rect">
            <a:avLst/>
          </a:prstGeom>
          <a:noFill/>
          <a:ln/>
        </p:spPr>
        <p:txBody>
          <a:bodyPr wrap="square" lIns="0" tIns="0" rIns="0" bIns="0" rtlCol="0" anchor="t"/>
          <a:lstStyle/>
          <a:p>
            <a:pPr indent="0" marL="0">
              <a:buNone/>
            </a:pPr>
            <a:r>
              <a:rPr lang="en-US" sz="1500" dirty="0">
                <a:solidFill>
                  <a:schemeClr val="tx1"/>
                </a:solidFill>
              </a:rPr>
              <a:t>When a staff member leaves, the policy, the customer history and the fix leave with them.</a:t>
            </a:r>
            <a:endParaRPr lang="en-US" sz="1500" dirty="0"/>
          </a:p>
        </p:txBody>
      </p:sp>
      <p:sp>
        <p:nvSpPr>
          <p:cNvPr id="11" name="Pain 3 circle"/>
          <p:cNvSpPr/>
          <p:nvPr/>
        </p:nvSpPr>
        <p:spPr>
          <a:xfrm>
            <a:off x="548640" y="4617720"/>
            <a:ext cx="685800" cy="685800"/>
          </a:xfrm>
          <a:prstGeom prst="ellipse">
            <a:avLst/>
          </a:prstGeom>
          <a:solidFill>
            <a:schemeClr val="bg2"/>
          </a:solidFill>
          <a:ln/>
        </p:spPr>
      </p:sp>
      <p:pic>
        <p:nvPicPr>
          <p:cNvPr id="12" name="Pain 3 icon" descr="preencoded.png">    </p:cNvPr>
          <p:cNvPicPr>
            <a:picLocks noChangeAspect="1"/>
          </p:cNvPicPr>
          <p:nvPr/>
        </p:nvPicPr>
        <p:blipFill>
          <a:blip r:embed="rId3"/>
          <a:stretch>
            <a:fillRect/>
          </a:stretch>
        </p:blipFill>
        <p:spPr>
          <a:xfrm>
            <a:off x="713232" y="4782312"/>
            <a:ext cx="356616" cy="356616"/>
          </a:xfrm>
          <a:prstGeom prst="rect">
            <a:avLst/>
          </a:prstGeom>
        </p:spPr>
      </p:pic>
      <p:sp>
        <p:nvSpPr>
          <p:cNvPr id="13" name="Text 8"/>
          <p:cNvSpPr txBox="1"/>
          <p:nvPr/>
        </p:nvSpPr>
        <p:spPr>
          <a:xfrm>
            <a:off x="1463040" y="4617720"/>
            <a:ext cx="4937760" cy="365760"/>
          </a:xfrm>
          <a:prstGeom prst="rect">
            <a:avLst/>
          </a:prstGeom>
          <a:noFill/>
          <a:ln/>
        </p:spPr>
        <p:txBody>
          <a:bodyPr wrap="square" lIns="0" tIns="0" rIns="0" bIns="0" rtlCol="0" anchor="t"/>
          <a:lstStyle/>
          <a:p>
            <a:pPr indent="0" marL="0">
              <a:buNone/>
            </a:pPr>
            <a:r>
              <a:rPr lang="en-US" sz="2000" b="1" dirty="0">
                <a:solidFill>
                  <a:schemeClr val="tx2"/>
                </a:solidFill>
              </a:rPr>
              <a:t>Today's AI tools are unsafe to let act</a:t>
            </a:r>
            <a:endParaRPr lang="en-US" sz="2000" dirty="0"/>
          </a:p>
        </p:txBody>
      </p:sp>
      <p:sp>
        <p:nvSpPr>
          <p:cNvPr id="14" name="Text 9"/>
          <p:cNvSpPr txBox="1"/>
          <p:nvPr/>
        </p:nvSpPr>
        <p:spPr>
          <a:xfrm>
            <a:off x="1463040" y="5029200"/>
            <a:ext cx="4937760" cy="822960"/>
          </a:xfrm>
          <a:prstGeom prst="rect">
            <a:avLst/>
          </a:prstGeom>
          <a:noFill/>
          <a:ln/>
        </p:spPr>
        <p:txBody>
          <a:bodyPr wrap="square" lIns="0" tIns="0" rIns="0" bIns="0" rtlCol="0" anchor="t"/>
          <a:lstStyle/>
          <a:p>
            <a:pPr indent="0" marL="0">
              <a:buNone/>
            </a:pPr>
            <a:r>
              <a:rPr lang="en-US" sz="1500" dirty="0">
                <a:solidFill>
                  <a:schemeClr val="tx1"/>
                </a:solidFill>
              </a:rPr>
              <a:t>No approvals, no audit trail, customer data pasted into chat tools. A real risk under the PDPA.</a:t>
            </a:r>
            <a:endParaRPr lang="en-US" sz="1500" dirty="0"/>
          </a:p>
        </p:txBody>
      </p:sp>
      <p:sp>
        <p:nvSpPr>
          <p:cNvPr id="15" name="Case card"/>
          <p:cNvSpPr/>
          <p:nvPr/>
        </p:nvSpPr>
        <p:spPr>
          <a:xfrm>
            <a:off x="6949440" y="1691640"/>
            <a:ext cx="4663440" cy="4251960"/>
          </a:xfrm>
          <a:prstGeom prst="roundRect">
            <a:avLst>
              <a:gd name="adj" fmla="val 2581"/>
            </a:avLst>
          </a:prstGeom>
          <a:solidFill>
            <a:schemeClr val="bg2"/>
          </a:solidFill>
          <a:ln w="12700">
            <a:solidFill>
              <a:schemeClr val="accent6"/>
            </a:solidFill>
            <a:prstDash val="solid"/>
          </a:ln>
          <a:effectLst>
            <a:outerShdw sx="100000" sy="100000" kx="0" ky="0" algn="bl" rotWithShape="0" blurRad="101600" dist="25400" dir="5400000">
              <a:srgbClr val="1A1838">
                <a:alpha val="12000"/>
              </a:srgbClr>
            </a:outerShdw>
          </a:effectLst>
        </p:spPr>
      </p:sp>
      <p:sp>
        <p:nvSpPr>
          <p:cNvPr id="16" name="Text 11"/>
          <p:cNvSpPr txBox="1"/>
          <p:nvPr/>
        </p:nvSpPr>
        <p:spPr>
          <a:xfrm>
            <a:off x="7315200" y="1965960"/>
            <a:ext cx="393192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ONE REAL CASE</a:t>
            </a:r>
            <a:endParaRPr lang="en-US" sz="1200" dirty="0"/>
          </a:p>
        </p:txBody>
      </p:sp>
      <p:sp>
        <p:nvSpPr>
          <p:cNvPr id="17" name="Text 12"/>
          <p:cNvSpPr txBox="1"/>
          <p:nvPr/>
        </p:nvSpPr>
        <p:spPr>
          <a:xfrm>
            <a:off x="7315200" y="2331720"/>
            <a:ext cx="3931920" cy="1188720"/>
          </a:xfrm>
          <a:prstGeom prst="rect">
            <a:avLst/>
          </a:prstGeom>
          <a:noFill/>
          <a:ln/>
        </p:spPr>
        <p:txBody>
          <a:bodyPr wrap="square" lIns="0" tIns="0" rIns="0" bIns="0" rtlCol="0" anchor="t"/>
          <a:lstStyle/>
          <a:p>
            <a:pPr indent="0" marL="0">
              <a:buNone/>
            </a:pPr>
            <a:r>
              <a:rPr lang="en-US" sz="1800" dirty="0">
                <a:solidFill>
                  <a:schemeClr val="tx2"/>
                </a:solidFill>
              </a:rPr>
              <a:t>A customer asks for a full refund on an </a:t>
            </a:r>
            <a:pPr indent="0" marL="0">
              <a:buNone/>
            </a:pPr>
            <a:r>
              <a:rPr lang="en-US" sz="1800" b="1" dirty="0">
                <a:solidFill>
                  <a:schemeClr val="tx2"/>
                </a:solidFill>
              </a:rPr>
              <a:t>LKR 85,000</a:t>
            </a:r>
            <a:pPr indent="0" marL="0">
              <a:buNone/>
            </a:pPr>
            <a:r>
              <a:rPr lang="en-US" sz="1800" dirty="0">
                <a:solidFill>
                  <a:schemeClr val="tx2"/>
                </a:solidFill>
              </a:rPr>
              <a:t> annual plan, </a:t>
            </a:r>
            <a:pPr indent="0" marL="0">
              <a:buNone/>
            </a:pPr>
            <a:r>
              <a:rPr lang="en-US" sz="1800" b="1" dirty="0">
                <a:solidFill>
                  <a:schemeClr val="tx2"/>
                </a:solidFill>
              </a:rPr>
              <a:t>41 days</a:t>
            </a:r>
            <a:pPr indent="0" marL="0">
              <a:buNone/>
            </a:pPr>
            <a:r>
              <a:rPr lang="en-US" sz="1800" dirty="0">
                <a:solidFill>
                  <a:schemeClr val="tx2"/>
                </a:solidFill>
              </a:rPr>
              <a:t> after buying. Policy says 30 days.</a:t>
            </a:r>
            <a:endParaRPr lang="en-US" sz="1800" dirty="0"/>
          </a:p>
        </p:txBody>
      </p:sp>
      <p:sp>
        <p:nvSpPr>
          <p:cNvPr id="18" name="Text 13"/>
          <p:cNvSpPr txBox="1"/>
          <p:nvPr/>
        </p:nvSpPr>
        <p:spPr>
          <a:xfrm>
            <a:off x="7315200" y="3657600"/>
            <a:ext cx="3931920" cy="109728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Who decides? Someone guesses.</a:t>
            </a:r>
            <a:endParaRPr lang="en-US" sz="1500" dirty="0"/>
          </a:p>
          <a:p>
            <a:pPr indent="0" marL="0">
              <a:spcAft>
                <a:spcPts val="400"/>
              </a:spcAft>
              <a:buNone/>
            </a:pPr>
            <a:r>
              <a:rPr lang="en-US" sz="1500" dirty="0">
                <a:solidFill>
                  <a:schemeClr val="tx1"/>
                </a:solidFill>
              </a:rPr>
              <a:t>Nobody records why.</a:t>
            </a:r>
            <a:endParaRPr lang="en-US" sz="1500" dirty="0"/>
          </a:p>
          <a:p>
            <a:pPr indent="0" marL="0">
              <a:spcAft>
                <a:spcPts val="400"/>
              </a:spcAft>
              <a:buNone/>
            </a:pPr>
            <a:r>
              <a:rPr lang="en-US" sz="1500" dirty="0">
                <a:solidFill>
                  <a:schemeClr val="tx1"/>
                </a:solidFill>
              </a:rPr>
              <a:t>Next month, the same case starts from zero.</a:t>
            </a:r>
            <a:endParaRPr lang="en-US" sz="1500" dirty="0"/>
          </a:p>
        </p:txBody>
      </p:sp>
      <p:sp>
        <p:nvSpPr>
          <p:cNvPr id="19" name="Text 14"/>
          <p:cNvSpPr txBox="1"/>
          <p:nvPr/>
        </p:nvSpPr>
        <p:spPr>
          <a:xfrm>
            <a:off x="7315200" y="5029200"/>
            <a:ext cx="3931920" cy="640080"/>
          </a:xfrm>
          <a:prstGeom prst="rect">
            <a:avLst/>
          </a:prstGeom>
          <a:noFill/>
          <a:ln/>
        </p:spPr>
        <p:txBody>
          <a:bodyPr wrap="square" lIns="0" tIns="0" rIns="0" bIns="0" rtlCol="0" anchor="t"/>
          <a:lstStyle/>
          <a:p>
            <a:pPr indent="0" marL="0">
              <a:buNone/>
            </a:pPr>
            <a:r>
              <a:rPr lang="en-US" sz="1300" i="1" dirty="0">
                <a:solidFill>
                  <a:schemeClr val="accent5"/>
                </a:solidFill>
              </a:rPr>
              <a:t>SMEs are ~52% of Sri Lanka's GDP and ~45% of jobs.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6012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AI agents do the work. Your people keep control</a:t>
            </a:r>
            <a:endParaRPr lang="en-US" sz="3200" dirty="0"/>
          </a:p>
        </p:txBody>
      </p:sp>
      <p:sp>
        <p:nvSpPr>
          <p:cNvPr id="3" name="Step Sensor circle"/>
          <p:cNvSpPr/>
          <p:nvPr/>
        </p:nvSpPr>
        <p:spPr>
          <a:xfrm>
            <a:off x="548640" y="1554480"/>
            <a:ext cx="566928" cy="566928"/>
          </a:xfrm>
          <a:prstGeom prst="ellipse">
            <a:avLst/>
          </a:prstGeom>
          <a:solidFill>
            <a:schemeClr val="accent1"/>
          </a:solidFill>
          <a:ln/>
        </p:spPr>
      </p:sp>
      <p:pic>
        <p:nvPicPr>
          <p:cNvPr id="4" name="Step Sensor icon" descr="preencoded.png">    </p:cNvPr>
          <p:cNvPicPr>
            <a:picLocks noChangeAspect="1"/>
          </p:cNvPicPr>
          <p:nvPr/>
        </p:nvPicPr>
        <p:blipFill>
          <a:blip r:embed="rId1"/>
          <a:stretch>
            <a:fillRect/>
          </a:stretch>
        </p:blipFill>
        <p:spPr>
          <a:xfrm>
            <a:off x="684703" y="1690543"/>
            <a:ext cx="294803" cy="294803"/>
          </a:xfrm>
          <a:prstGeom prst="rect">
            <a:avLst/>
          </a:prstGeom>
        </p:spPr>
      </p:pic>
      <p:sp>
        <p:nvSpPr>
          <p:cNvPr id="5" name="Text 2"/>
          <p:cNvSpPr txBox="1"/>
          <p:nvPr/>
        </p:nvSpPr>
        <p:spPr>
          <a:xfrm>
            <a:off x="1325880" y="1536192"/>
            <a:ext cx="4297680" cy="292608"/>
          </a:xfrm>
          <a:prstGeom prst="rect">
            <a:avLst/>
          </a:prstGeom>
          <a:noFill/>
          <a:ln/>
        </p:spPr>
        <p:txBody>
          <a:bodyPr wrap="square" lIns="0" tIns="0" rIns="0" bIns="0" rtlCol="0" anchor="t"/>
          <a:lstStyle/>
          <a:p>
            <a:pPr indent="0" marL="0">
              <a:buNone/>
            </a:pPr>
            <a:r>
              <a:rPr lang="en-US" sz="1700" b="1" dirty="0">
                <a:solidFill>
                  <a:schemeClr val="tx2"/>
                </a:solidFill>
              </a:rPr>
              <a:t>Sensor</a:t>
            </a:r>
            <a:endParaRPr lang="en-US" sz="1700" dirty="0"/>
          </a:p>
        </p:txBody>
      </p:sp>
      <p:sp>
        <p:nvSpPr>
          <p:cNvPr id="6" name="Text 3"/>
          <p:cNvSpPr txBox="1"/>
          <p:nvPr/>
        </p:nvSpPr>
        <p:spPr>
          <a:xfrm>
            <a:off x="1325880" y="1828800"/>
            <a:ext cx="4297680" cy="502920"/>
          </a:xfrm>
          <a:prstGeom prst="rect">
            <a:avLst/>
          </a:prstGeom>
          <a:noFill/>
          <a:ln/>
        </p:spPr>
        <p:txBody>
          <a:bodyPr wrap="square" lIns="0" tIns="0" rIns="0" bIns="0" rtlCol="0" anchor="t"/>
          <a:lstStyle/>
          <a:p>
            <a:pPr indent="0" marL="0">
              <a:buNone/>
            </a:pPr>
            <a:r>
              <a:rPr lang="en-US" sz="1400" dirty="0">
                <a:solidFill>
                  <a:schemeClr val="accent5"/>
                </a:solidFill>
              </a:rPr>
              <a:t>Notices what happened: an email, chat, payment or deadline</a:t>
            </a:r>
            <a:endParaRPr lang="en-US" sz="1400" dirty="0"/>
          </a:p>
        </p:txBody>
      </p:sp>
      <p:sp>
        <p:nvSpPr>
          <p:cNvPr id="7" name="Step Policy circle"/>
          <p:cNvSpPr/>
          <p:nvPr/>
        </p:nvSpPr>
        <p:spPr>
          <a:xfrm>
            <a:off x="548640" y="2450592"/>
            <a:ext cx="566928" cy="566928"/>
          </a:xfrm>
          <a:prstGeom prst="ellipse">
            <a:avLst/>
          </a:prstGeom>
          <a:solidFill>
            <a:schemeClr val="accent1"/>
          </a:solidFill>
          <a:ln/>
        </p:spPr>
      </p:sp>
      <p:pic>
        <p:nvPicPr>
          <p:cNvPr id="8" name="Step Policy icon" descr="preencoded.png">    </p:cNvPr>
          <p:cNvPicPr>
            <a:picLocks noChangeAspect="1"/>
          </p:cNvPicPr>
          <p:nvPr/>
        </p:nvPicPr>
        <p:blipFill>
          <a:blip r:embed="rId2"/>
          <a:stretch>
            <a:fillRect/>
          </a:stretch>
        </p:blipFill>
        <p:spPr>
          <a:xfrm>
            <a:off x="684703" y="2586655"/>
            <a:ext cx="294803" cy="294803"/>
          </a:xfrm>
          <a:prstGeom prst="rect">
            <a:avLst/>
          </a:prstGeom>
        </p:spPr>
      </p:pic>
      <p:sp>
        <p:nvSpPr>
          <p:cNvPr id="9" name="Text 5"/>
          <p:cNvSpPr txBox="1"/>
          <p:nvPr/>
        </p:nvSpPr>
        <p:spPr>
          <a:xfrm>
            <a:off x="1325880" y="2432304"/>
            <a:ext cx="4297680" cy="292608"/>
          </a:xfrm>
          <a:prstGeom prst="rect">
            <a:avLst/>
          </a:prstGeom>
          <a:noFill/>
          <a:ln/>
        </p:spPr>
        <p:txBody>
          <a:bodyPr wrap="square" lIns="0" tIns="0" rIns="0" bIns="0" rtlCol="0" anchor="t"/>
          <a:lstStyle/>
          <a:p>
            <a:pPr indent="0" marL="0">
              <a:buNone/>
            </a:pPr>
            <a:r>
              <a:rPr lang="en-US" sz="1700" b="1" dirty="0">
                <a:solidFill>
                  <a:schemeClr val="tx2"/>
                </a:solidFill>
              </a:rPr>
              <a:t>Policy</a:t>
            </a:r>
            <a:endParaRPr lang="en-US" sz="1700" dirty="0"/>
          </a:p>
        </p:txBody>
      </p:sp>
      <p:sp>
        <p:nvSpPr>
          <p:cNvPr id="10" name="Text 6"/>
          <p:cNvSpPr txBox="1"/>
          <p:nvPr/>
        </p:nvSpPr>
        <p:spPr>
          <a:xfrm>
            <a:off x="1325880" y="2724912"/>
            <a:ext cx="4297680" cy="502920"/>
          </a:xfrm>
          <a:prstGeom prst="rect">
            <a:avLst/>
          </a:prstGeom>
          <a:noFill/>
          <a:ln/>
        </p:spPr>
        <p:txBody>
          <a:bodyPr wrap="square" lIns="0" tIns="0" rIns="0" bIns="0" rtlCol="0" anchor="t"/>
          <a:lstStyle/>
          <a:p>
            <a:pPr indent="0" marL="0">
              <a:buNone/>
            </a:pPr>
            <a:r>
              <a:rPr lang="en-US" sz="1400" dirty="0">
                <a:solidFill>
                  <a:schemeClr val="accent5"/>
                </a:solidFill>
              </a:rPr>
              <a:t>Decides what is allowed, before anything acts</a:t>
            </a:r>
            <a:endParaRPr lang="en-US" sz="1400" dirty="0"/>
          </a:p>
        </p:txBody>
      </p:sp>
      <p:sp>
        <p:nvSpPr>
          <p:cNvPr id="11" name="Step Tool circle"/>
          <p:cNvSpPr/>
          <p:nvPr/>
        </p:nvSpPr>
        <p:spPr>
          <a:xfrm>
            <a:off x="548640" y="3346704"/>
            <a:ext cx="566928" cy="566928"/>
          </a:xfrm>
          <a:prstGeom prst="ellipse">
            <a:avLst/>
          </a:prstGeom>
          <a:solidFill>
            <a:schemeClr val="accent1"/>
          </a:solidFill>
          <a:ln/>
        </p:spPr>
      </p:sp>
      <p:pic>
        <p:nvPicPr>
          <p:cNvPr id="12" name="Step Tool icon" descr="preencoded.png">    </p:cNvPr>
          <p:cNvPicPr>
            <a:picLocks noChangeAspect="1"/>
          </p:cNvPicPr>
          <p:nvPr/>
        </p:nvPicPr>
        <p:blipFill>
          <a:blip r:embed="rId3"/>
          <a:stretch>
            <a:fillRect/>
          </a:stretch>
        </p:blipFill>
        <p:spPr>
          <a:xfrm>
            <a:off x="684703" y="3482767"/>
            <a:ext cx="294803" cy="294803"/>
          </a:xfrm>
          <a:prstGeom prst="rect">
            <a:avLst/>
          </a:prstGeom>
        </p:spPr>
      </p:pic>
      <p:sp>
        <p:nvSpPr>
          <p:cNvPr id="13" name="Text 8"/>
          <p:cNvSpPr txBox="1"/>
          <p:nvPr/>
        </p:nvSpPr>
        <p:spPr>
          <a:xfrm>
            <a:off x="1325880" y="3328416"/>
            <a:ext cx="4297680" cy="292608"/>
          </a:xfrm>
          <a:prstGeom prst="rect">
            <a:avLst/>
          </a:prstGeom>
          <a:noFill/>
          <a:ln/>
        </p:spPr>
        <p:txBody>
          <a:bodyPr wrap="square" lIns="0" tIns="0" rIns="0" bIns="0" rtlCol="0" anchor="t"/>
          <a:lstStyle/>
          <a:p>
            <a:pPr indent="0" marL="0">
              <a:buNone/>
            </a:pPr>
            <a:r>
              <a:rPr lang="en-US" sz="1700" b="1" dirty="0">
                <a:solidFill>
                  <a:schemeClr val="tx2"/>
                </a:solidFill>
              </a:rPr>
              <a:t>Tool</a:t>
            </a:r>
            <a:endParaRPr lang="en-US" sz="1700" dirty="0"/>
          </a:p>
        </p:txBody>
      </p:sp>
      <p:sp>
        <p:nvSpPr>
          <p:cNvPr id="14" name="Text 9"/>
          <p:cNvSpPr txBox="1"/>
          <p:nvPr/>
        </p:nvSpPr>
        <p:spPr>
          <a:xfrm>
            <a:off x="1325880" y="3621024"/>
            <a:ext cx="4297680" cy="502920"/>
          </a:xfrm>
          <a:prstGeom prst="rect">
            <a:avLst/>
          </a:prstGeom>
          <a:noFill/>
          <a:ln/>
        </p:spPr>
        <p:txBody>
          <a:bodyPr wrap="square" lIns="0" tIns="0" rIns="0" bIns="0" rtlCol="0" anchor="t"/>
          <a:lstStyle/>
          <a:p>
            <a:pPr indent="0" marL="0">
              <a:buNone/>
            </a:pPr>
            <a:r>
              <a:rPr lang="en-US" sz="1400" dirty="0">
                <a:solidFill>
                  <a:schemeClr val="accent5"/>
                </a:solidFill>
              </a:rPr>
              <a:t>The agent does the work through your existing systems</a:t>
            </a:r>
            <a:endParaRPr lang="en-US" sz="1400" dirty="0"/>
          </a:p>
        </p:txBody>
      </p:sp>
      <p:sp>
        <p:nvSpPr>
          <p:cNvPr id="15" name="Step Quality gate circle"/>
          <p:cNvSpPr/>
          <p:nvPr/>
        </p:nvSpPr>
        <p:spPr>
          <a:xfrm>
            <a:off x="548640" y="4242816"/>
            <a:ext cx="566928" cy="566928"/>
          </a:xfrm>
          <a:prstGeom prst="ellipse">
            <a:avLst/>
          </a:prstGeom>
          <a:solidFill>
            <a:schemeClr val="accent2"/>
          </a:solidFill>
          <a:ln/>
        </p:spPr>
      </p:sp>
      <p:pic>
        <p:nvPicPr>
          <p:cNvPr id="16" name="Step Quality gate icon" descr="preencoded.png">    </p:cNvPr>
          <p:cNvPicPr>
            <a:picLocks noChangeAspect="1"/>
          </p:cNvPicPr>
          <p:nvPr/>
        </p:nvPicPr>
        <p:blipFill>
          <a:blip r:embed="rId4"/>
          <a:stretch>
            <a:fillRect/>
          </a:stretch>
        </p:blipFill>
        <p:spPr>
          <a:xfrm>
            <a:off x="684703" y="4378879"/>
            <a:ext cx="294803" cy="294803"/>
          </a:xfrm>
          <a:prstGeom prst="rect">
            <a:avLst/>
          </a:prstGeom>
        </p:spPr>
      </p:pic>
      <p:sp>
        <p:nvSpPr>
          <p:cNvPr id="17" name="Text 11"/>
          <p:cNvSpPr txBox="1"/>
          <p:nvPr/>
        </p:nvSpPr>
        <p:spPr>
          <a:xfrm>
            <a:off x="1325880" y="4224528"/>
            <a:ext cx="4297680" cy="292608"/>
          </a:xfrm>
          <a:prstGeom prst="rect">
            <a:avLst/>
          </a:prstGeom>
          <a:noFill/>
          <a:ln/>
        </p:spPr>
        <p:txBody>
          <a:bodyPr wrap="square" lIns="0" tIns="0" rIns="0" bIns="0" rtlCol="0" anchor="t"/>
          <a:lstStyle/>
          <a:p>
            <a:pPr indent="0" marL="0">
              <a:buNone/>
            </a:pPr>
            <a:r>
              <a:rPr lang="en-US" sz="1700" b="1" dirty="0">
                <a:solidFill>
                  <a:schemeClr val="tx2"/>
                </a:solidFill>
              </a:rPr>
              <a:t>Quality gate</a:t>
            </a:r>
            <a:endParaRPr lang="en-US" sz="1700" dirty="0"/>
          </a:p>
        </p:txBody>
      </p:sp>
      <p:sp>
        <p:nvSpPr>
          <p:cNvPr id="18" name="Text 12"/>
          <p:cNvSpPr txBox="1"/>
          <p:nvPr/>
        </p:nvSpPr>
        <p:spPr>
          <a:xfrm>
            <a:off x="1325880" y="4517136"/>
            <a:ext cx="4297680" cy="502920"/>
          </a:xfrm>
          <a:prstGeom prst="rect">
            <a:avLst/>
          </a:prstGeom>
          <a:noFill/>
          <a:ln/>
        </p:spPr>
        <p:txBody>
          <a:bodyPr wrap="square" lIns="0" tIns="0" rIns="0" bIns="0" rtlCol="0" anchor="t"/>
          <a:lstStyle/>
          <a:p>
            <a:pPr indent="0" marL="0">
              <a:buNone/>
            </a:pPr>
            <a:r>
              <a:rPr lang="en-US" sz="1400" dirty="0">
                <a:solidFill>
                  <a:schemeClr val="accent5"/>
                </a:solidFill>
              </a:rPr>
              <a:t>Checks the result. Risky actions wait for the right person</a:t>
            </a:r>
            <a:endParaRPr lang="en-US" sz="1400" dirty="0"/>
          </a:p>
        </p:txBody>
      </p:sp>
      <p:sp>
        <p:nvSpPr>
          <p:cNvPr id="19" name="Step Learning circle"/>
          <p:cNvSpPr/>
          <p:nvPr/>
        </p:nvSpPr>
        <p:spPr>
          <a:xfrm>
            <a:off x="548640" y="5138928"/>
            <a:ext cx="566928" cy="566928"/>
          </a:xfrm>
          <a:prstGeom prst="ellipse">
            <a:avLst/>
          </a:prstGeom>
          <a:solidFill>
            <a:schemeClr val="accent1"/>
          </a:solidFill>
          <a:ln/>
        </p:spPr>
      </p:sp>
      <p:pic>
        <p:nvPicPr>
          <p:cNvPr id="20" name="Step Learning icon" descr="preencoded.png">    </p:cNvPr>
          <p:cNvPicPr>
            <a:picLocks noChangeAspect="1"/>
          </p:cNvPicPr>
          <p:nvPr/>
        </p:nvPicPr>
        <p:blipFill>
          <a:blip r:embed="rId5"/>
          <a:stretch>
            <a:fillRect/>
          </a:stretch>
        </p:blipFill>
        <p:spPr>
          <a:xfrm>
            <a:off x="684703" y="5274991"/>
            <a:ext cx="294803" cy="294803"/>
          </a:xfrm>
          <a:prstGeom prst="rect">
            <a:avLst/>
          </a:prstGeom>
        </p:spPr>
      </p:pic>
      <p:sp>
        <p:nvSpPr>
          <p:cNvPr id="21" name="Text 14"/>
          <p:cNvSpPr txBox="1"/>
          <p:nvPr/>
        </p:nvSpPr>
        <p:spPr>
          <a:xfrm>
            <a:off x="1325880" y="5120640"/>
            <a:ext cx="4297680" cy="292608"/>
          </a:xfrm>
          <a:prstGeom prst="rect">
            <a:avLst/>
          </a:prstGeom>
          <a:noFill/>
          <a:ln/>
        </p:spPr>
        <p:txBody>
          <a:bodyPr wrap="square" lIns="0" tIns="0" rIns="0" bIns="0" rtlCol="0" anchor="t"/>
          <a:lstStyle/>
          <a:p>
            <a:pPr indent="0" marL="0">
              <a:buNone/>
            </a:pPr>
            <a:r>
              <a:rPr lang="en-US" sz="1700" b="1" dirty="0">
                <a:solidFill>
                  <a:schemeClr val="tx2"/>
                </a:solidFill>
              </a:rPr>
              <a:t>Learning</a:t>
            </a:r>
            <a:endParaRPr lang="en-US" sz="1700" dirty="0"/>
          </a:p>
        </p:txBody>
      </p:sp>
      <p:sp>
        <p:nvSpPr>
          <p:cNvPr id="22" name="Text 15"/>
          <p:cNvSpPr txBox="1"/>
          <p:nvPr/>
        </p:nvSpPr>
        <p:spPr>
          <a:xfrm>
            <a:off x="1325880" y="5413248"/>
            <a:ext cx="4297680" cy="502920"/>
          </a:xfrm>
          <a:prstGeom prst="rect">
            <a:avLst/>
          </a:prstGeom>
          <a:noFill/>
          <a:ln/>
        </p:spPr>
        <p:txBody>
          <a:bodyPr wrap="square" lIns="0" tIns="0" rIns="0" bIns="0" rtlCol="0" anchor="t"/>
          <a:lstStyle/>
          <a:p>
            <a:pPr indent="0" marL="0">
              <a:buNone/>
            </a:pPr>
            <a:r>
              <a:rPr lang="en-US" sz="1400" dirty="0">
                <a:solidFill>
                  <a:schemeClr val="accent5"/>
                </a:solidFill>
              </a:rPr>
              <a:t>Each night, solved cases become reusable skills</a:t>
            </a:r>
            <a:endParaRPr lang="en-US" sz="1400" dirty="0"/>
          </a:p>
        </p:txBody>
      </p:sp>
      <p:sp>
        <p:nvSpPr>
          <p:cNvPr id="23" name="Approval screenshot frame"/>
          <p:cNvSpPr/>
          <p:nvPr/>
        </p:nvSpPr>
        <p:spPr>
          <a:xfrm>
            <a:off x="6099048" y="1527048"/>
            <a:ext cx="5586984" cy="3968496"/>
          </a:xfrm>
          <a:prstGeom prst="roundRect">
            <a:avLst>
              <a:gd name="adj" fmla="val 2304"/>
            </a:avLst>
          </a:prstGeom>
          <a:solidFill>
            <a:schemeClr val="bg1"/>
          </a:solidFill>
          <a:ln w="12700">
            <a:solidFill>
              <a:schemeClr val="accent6"/>
            </a:solidFill>
            <a:prstDash val="solid"/>
          </a:ln>
          <a:effectLst>
            <a:outerShdw sx="100000" sy="100000" kx="0" ky="0" algn="bl" rotWithShape="0" blurRad="101600" dist="25400" dir="5400000">
              <a:srgbClr val="1A1838">
                <a:alpha val="12000"/>
              </a:srgbClr>
            </a:outerShdw>
          </a:effectLst>
        </p:spPr>
      </p:sp>
      <p:pic>
        <p:nvPicPr>
          <p:cNvPr id="24" name="Approval screenshot" descr="preencoded.png">    </p:cNvPr>
          <p:cNvPicPr>
            <a:picLocks noChangeAspect="1"/>
          </p:cNvPicPr>
          <p:nvPr/>
        </p:nvPicPr>
        <p:blipFill>
          <a:blip r:embed="rId6"/>
          <a:stretch>
            <a:fillRect/>
          </a:stretch>
        </p:blipFill>
        <p:spPr>
          <a:xfrm>
            <a:off x="6172200" y="1600200"/>
            <a:ext cx="5440680" cy="3822192"/>
          </a:xfrm>
          <a:prstGeom prst="rect">
            <a:avLst/>
          </a:prstGeom>
        </p:spPr>
      </p:pic>
      <p:sp>
        <p:nvSpPr>
          <p:cNvPr id="25" name="Text 17"/>
          <p:cNvSpPr txBox="1"/>
          <p:nvPr/>
        </p:nvSpPr>
        <p:spPr>
          <a:xfrm>
            <a:off x="6172200" y="5623560"/>
            <a:ext cx="5440680" cy="548640"/>
          </a:xfrm>
          <a:prstGeom prst="rect">
            <a:avLst/>
          </a:prstGeom>
          <a:noFill/>
          <a:ln/>
        </p:spPr>
        <p:txBody>
          <a:bodyPr wrap="square" lIns="0" tIns="0" rIns="0" bIns="0" rtlCol="0" anchor="t"/>
          <a:lstStyle/>
          <a:p>
            <a:pPr indent="0" marL="0">
              <a:buNone/>
            </a:pPr>
            <a:r>
              <a:rPr lang="en-US" sz="1300" i="1" dirty="0">
                <a:solidFill>
                  <a:schemeClr val="accent5"/>
                </a:solidFill>
              </a:rPr>
              <a:t>A money-touching change waits for two leaders, with a replay of its impact on 318 past runs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6012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A new data law and agents that can act make 2027 the moment</a:t>
            </a:r>
            <a:endParaRPr lang="en-US" sz="3200" dirty="0"/>
          </a:p>
        </p:txBody>
      </p:sp>
      <p:sp>
        <p:nvSpPr>
          <p:cNvPr id="3" name="Why now card 1"/>
          <p:cNvSpPr/>
          <p:nvPr/>
        </p:nvSpPr>
        <p:spPr>
          <a:xfrm>
            <a:off x="548640" y="1645920"/>
            <a:ext cx="3474720" cy="4389120"/>
          </a:xfrm>
          <a:prstGeom prst="roundRect">
            <a:avLst>
              <a:gd name="adj" fmla="val 3158"/>
            </a:avLst>
          </a:prstGeom>
          <a:solidFill>
            <a:schemeClr val="bg1"/>
          </a:solidFill>
          <a:ln w="12700">
            <a:solidFill>
              <a:schemeClr val="accent6"/>
            </a:solidFill>
            <a:prstDash val="solid"/>
          </a:ln>
          <a:effectLst>
            <a:outerShdw sx="100000" sy="100000" kx="0" ky="0" algn="bl" rotWithShape="0" blurRad="101600" dist="25400" dir="5400000">
              <a:srgbClr val="1A1838">
                <a:alpha val="12000"/>
              </a:srgbClr>
            </a:outerShdw>
          </a:effectLst>
        </p:spPr>
      </p:sp>
      <p:sp>
        <p:nvSpPr>
          <p:cNvPr id="4" name="Why now 1 circle"/>
          <p:cNvSpPr/>
          <p:nvPr/>
        </p:nvSpPr>
        <p:spPr>
          <a:xfrm>
            <a:off x="868680" y="1920240"/>
            <a:ext cx="640080" cy="640080"/>
          </a:xfrm>
          <a:prstGeom prst="ellipse">
            <a:avLst/>
          </a:prstGeom>
          <a:solidFill>
            <a:schemeClr val="bg2"/>
          </a:solidFill>
          <a:ln/>
        </p:spPr>
      </p:sp>
      <p:pic>
        <p:nvPicPr>
          <p:cNvPr id="5" name="Why now 1 icon" descr="preencoded.png">    </p:cNvPr>
          <p:cNvPicPr>
            <a:picLocks noChangeAspect="1"/>
          </p:cNvPicPr>
          <p:nvPr/>
        </p:nvPicPr>
        <p:blipFill>
          <a:blip r:embed="rId1"/>
          <a:stretch>
            <a:fillRect/>
          </a:stretch>
        </p:blipFill>
        <p:spPr>
          <a:xfrm>
            <a:off x="1022299" y="2073859"/>
            <a:ext cx="332842" cy="332842"/>
          </a:xfrm>
          <a:prstGeom prst="rect">
            <a:avLst/>
          </a:prstGeom>
        </p:spPr>
      </p:pic>
      <p:sp>
        <p:nvSpPr>
          <p:cNvPr id="6" name="Text 3"/>
          <p:cNvSpPr txBox="1"/>
          <p:nvPr/>
        </p:nvSpPr>
        <p:spPr>
          <a:xfrm>
            <a:off x="868680" y="2697480"/>
            <a:ext cx="2926080" cy="685800"/>
          </a:xfrm>
          <a:prstGeom prst="rect">
            <a:avLst/>
          </a:prstGeom>
          <a:noFill/>
          <a:ln/>
        </p:spPr>
        <p:txBody>
          <a:bodyPr wrap="square" lIns="0" tIns="0" rIns="0" bIns="0" rtlCol="0" anchor="t"/>
          <a:lstStyle/>
          <a:p>
            <a:pPr indent="0" marL="0">
              <a:buNone/>
            </a:pPr>
            <a:r>
              <a:rPr lang="en-US" sz="3000" b="1" dirty="0">
                <a:solidFill>
                  <a:schemeClr val="accent2"/>
                </a:solidFill>
                <a:latin typeface="Arial" pitchFamily="34" charset="0"/>
                <a:ea typeface="Arial" pitchFamily="34" charset="-122"/>
                <a:cs typeface="Arial" pitchFamily="34" charset="-120"/>
              </a:rPr>
              <a:t>1 Jan 2027</a:t>
            </a:r>
            <a:endParaRPr lang="en-US" sz="3000" dirty="0"/>
          </a:p>
        </p:txBody>
      </p:sp>
      <p:sp>
        <p:nvSpPr>
          <p:cNvPr id="7" name="Text 4"/>
          <p:cNvSpPr txBox="1"/>
          <p:nvPr/>
        </p:nvSpPr>
        <p:spPr>
          <a:xfrm>
            <a:off x="868680" y="3429000"/>
            <a:ext cx="2926080" cy="594360"/>
          </a:xfrm>
          <a:prstGeom prst="rect">
            <a:avLst/>
          </a:prstGeom>
          <a:noFill/>
          <a:ln/>
        </p:spPr>
        <p:txBody>
          <a:bodyPr wrap="square" lIns="0" tIns="0" rIns="0" bIns="0" rtlCol="0" anchor="t"/>
          <a:lstStyle/>
          <a:p>
            <a:pPr indent="0" marL="0">
              <a:buNone/>
            </a:pPr>
            <a:r>
              <a:rPr lang="en-US" sz="1600" b="1" dirty="0">
                <a:solidFill>
                  <a:schemeClr val="tx2"/>
                </a:solidFill>
              </a:rPr>
              <a:t>Sri Lanka's PDPA compliance rules start</a:t>
            </a:r>
            <a:endParaRPr lang="en-US" sz="1600" dirty="0"/>
          </a:p>
        </p:txBody>
      </p:sp>
      <p:sp>
        <p:nvSpPr>
          <p:cNvPr id="8" name="Text 5"/>
          <p:cNvSpPr txBox="1"/>
          <p:nvPr/>
        </p:nvSpPr>
        <p:spPr>
          <a:xfrm>
            <a:off x="868680" y="4069080"/>
            <a:ext cx="2926080" cy="1280160"/>
          </a:xfrm>
          <a:prstGeom prst="rect">
            <a:avLst/>
          </a:prstGeom>
          <a:noFill/>
          <a:ln/>
        </p:spPr>
        <p:txBody>
          <a:bodyPr wrap="square" lIns="0" tIns="0" rIns="0" bIns="0" rtlCol="0" anchor="t"/>
          <a:lstStyle/>
          <a:p>
            <a:pPr indent="0" marL="0">
              <a:buNone/>
            </a:pPr>
            <a:r>
              <a:rPr lang="en-US" sz="1400" dirty="0">
                <a:solidFill>
                  <a:schemeClr val="tx1"/>
                </a:solidFill>
              </a:rPr>
              <a:t>Data protection officers, breach notices and impact assessments become duties. SMEs need masking and audit trails.</a:t>
            </a:r>
            <a:endParaRPr lang="en-US" sz="1400" dirty="0"/>
          </a:p>
        </p:txBody>
      </p:sp>
      <p:sp>
        <p:nvSpPr>
          <p:cNvPr id="9" name="Text 6"/>
          <p:cNvSpPr txBox="1"/>
          <p:nvPr/>
        </p:nvSpPr>
        <p:spPr>
          <a:xfrm>
            <a:off x="868680" y="5532120"/>
            <a:ext cx="2926080" cy="320040"/>
          </a:xfrm>
          <a:prstGeom prst="rect">
            <a:avLst/>
          </a:prstGeom>
          <a:noFill/>
          <a:ln/>
        </p:spPr>
        <p:txBody>
          <a:bodyPr wrap="square" lIns="0" tIns="0" rIns="0" bIns="0" rtlCol="0" anchor="t"/>
          <a:lstStyle/>
          <a:p>
            <a:pPr indent="0" marL="0">
              <a:buNone/>
            </a:pPr>
            <a:r>
              <a:rPr lang="en-US" sz="1100" i="1" dirty="0">
                <a:solidFill>
                  <a:schemeClr val="accent5"/>
                </a:solidFill>
              </a:rPr>
              <a:t>Gazette No. 2498/16, July 2026</a:t>
            </a:r>
            <a:endParaRPr lang="en-US" sz="1100" dirty="0"/>
          </a:p>
        </p:txBody>
      </p:sp>
      <p:sp>
        <p:nvSpPr>
          <p:cNvPr id="10" name="Why now card 2"/>
          <p:cNvSpPr/>
          <p:nvPr/>
        </p:nvSpPr>
        <p:spPr>
          <a:xfrm>
            <a:off x="4297680" y="1645920"/>
            <a:ext cx="3474720" cy="4389120"/>
          </a:xfrm>
          <a:prstGeom prst="roundRect">
            <a:avLst>
              <a:gd name="adj" fmla="val 3158"/>
            </a:avLst>
          </a:prstGeom>
          <a:solidFill>
            <a:schemeClr val="bg1"/>
          </a:solidFill>
          <a:ln w="12700">
            <a:solidFill>
              <a:schemeClr val="accent6"/>
            </a:solidFill>
            <a:prstDash val="solid"/>
          </a:ln>
          <a:effectLst>
            <a:outerShdw sx="100000" sy="100000" kx="0" ky="0" algn="bl" rotWithShape="0" blurRad="101600" dist="25400" dir="5400000">
              <a:srgbClr val="1A1838">
                <a:alpha val="12000"/>
              </a:srgbClr>
            </a:outerShdw>
          </a:effectLst>
        </p:spPr>
      </p:sp>
      <p:sp>
        <p:nvSpPr>
          <p:cNvPr id="11" name="Why now 2 circle"/>
          <p:cNvSpPr/>
          <p:nvPr/>
        </p:nvSpPr>
        <p:spPr>
          <a:xfrm>
            <a:off x="4617720" y="1920240"/>
            <a:ext cx="640080" cy="640080"/>
          </a:xfrm>
          <a:prstGeom prst="ellipse">
            <a:avLst/>
          </a:prstGeom>
          <a:solidFill>
            <a:schemeClr val="bg2"/>
          </a:solidFill>
          <a:ln/>
        </p:spPr>
      </p:sp>
      <p:pic>
        <p:nvPicPr>
          <p:cNvPr id="12" name="Why now 2 icon" descr="preencoded.png">    </p:cNvPr>
          <p:cNvPicPr>
            <a:picLocks noChangeAspect="1"/>
          </p:cNvPicPr>
          <p:nvPr/>
        </p:nvPicPr>
        <p:blipFill>
          <a:blip r:embed="rId2"/>
          <a:stretch>
            <a:fillRect/>
          </a:stretch>
        </p:blipFill>
        <p:spPr>
          <a:xfrm>
            <a:off x="4771339" y="2073859"/>
            <a:ext cx="332842" cy="332842"/>
          </a:xfrm>
          <a:prstGeom prst="rect">
            <a:avLst/>
          </a:prstGeom>
        </p:spPr>
      </p:pic>
      <p:sp>
        <p:nvSpPr>
          <p:cNvPr id="13" name="Text 9"/>
          <p:cNvSpPr txBox="1"/>
          <p:nvPr/>
        </p:nvSpPr>
        <p:spPr>
          <a:xfrm>
            <a:off x="4617720" y="2697480"/>
            <a:ext cx="2926080" cy="685800"/>
          </a:xfrm>
          <a:prstGeom prst="rect">
            <a:avLst/>
          </a:prstGeom>
          <a:noFill/>
          <a:ln/>
        </p:spPr>
        <p:txBody>
          <a:bodyPr wrap="square" lIns="0" tIns="0" rIns="0" bIns="0" rtlCol="0" anchor="t"/>
          <a:lstStyle/>
          <a:p>
            <a:pPr indent="0" marL="0">
              <a:buNone/>
            </a:pPr>
            <a:r>
              <a:rPr lang="en-US" sz="3000" b="1" dirty="0">
                <a:solidFill>
                  <a:schemeClr val="accent1"/>
                </a:solidFill>
                <a:latin typeface="Arial" pitchFamily="34" charset="0"/>
                <a:ea typeface="Arial" pitchFamily="34" charset="-122"/>
                <a:cs typeface="Arial" pitchFamily="34" charset="-120"/>
              </a:rPr>
              <a:t>46% a year</a:t>
            </a:r>
            <a:endParaRPr lang="en-US" sz="3000" dirty="0"/>
          </a:p>
        </p:txBody>
      </p:sp>
      <p:sp>
        <p:nvSpPr>
          <p:cNvPr id="14" name="Text 10"/>
          <p:cNvSpPr txBox="1"/>
          <p:nvPr/>
        </p:nvSpPr>
        <p:spPr>
          <a:xfrm>
            <a:off x="4617720" y="3429000"/>
            <a:ext cx="2926080" cy="594360"/>
          </a:xfrm>
          <a:prstGeom prst="rect">
            <a:avLst/>
          </a:prstGeom>
          <a:noFill/>
          <a:ln/>
        </p:spPr>
        <p:txBody>
          <a:bodyPr wrap="square" lIns="0" tIns="0" rIns="0" bIns="0" rtlCol="0" anchor="t"/>
          <a:lstStyle/>
          <a:p>
            <a:pPr indent="0" marL="0">
              <a:buNone/>
            </a:pPr>
            <a:r>
              <a:rPr lang="en-US" sz="1600" b="1" dirty="0">
                <a:solidFill>
                  <a:schemeClr val="tx2"/>
                </a:solidFill>
              </a:rPr>
              <a:t>AI agents moved from chatting to acting</a:t>
            </a:r>
            <a:endParaRPr lang="en-US" sz="1600" dirty="0"/>
          </a:p>
        </p:txBody>
      </p:sp>
      <p:sp>
        <p:nvSpPr>
          <p:cNvPr id="15" name="Text 11"/>
          <p:cNvSpPr txBox="1"/>
          <p:nvPr/>
        </p:nvSpPr>
        <p:spPr>
          <a:xfrm>
            <a:off x="4617720" y="4069080"/>
            <a:ext cx="2926080" cy="1280160"/>
          </a:xfrm>
          <a:prstGeom prst="rect">
            <a:avLst/>
          </a:prstGeom>
          <a:noFill/>
          <a:ln/>
        </p:spPr>
        <p:txBody>
          <a:bodyPr wrap="square" lIns="0" tIns="0" rIns="0" bIns="0" rtlCol="0" anchor="t"/>
          <a:lstStyle/>
          <a:p>
            <a:pPr indent="0" marL="0">
              <a:buNone/>
            </a:pPr>
            <a:r>
              <a:rPr lang="en-US" sz="1400" dirty="0">
                <a:solidFill>
                  <a:schemeClr val="tx1"/>
                </a:solidFill>
              </a:rPr>
              <a:t>The AI agents market grows from USD 7.8B in 2025 to USD 52.6B in 2030.</a:t>
            </a:r>
            <a:endParaRPr lang="en-US" sz="1400" dirty="0"/>
          </a:p>
        </p:txBody>
      </p:sp>
      <p:sp>
        <p:nvSpPr>
          <p:cNvPr id="16" name="Text 12"/>
          <p:cNvSpPr txBox="1"/>
          <p:nvPr/>
        </p:nvSpPr>
        <p:spPr>
          <a:xfrm>
            <a:off x="4617720" y="5532120"/>
            <a:ext cx="2926080" cy="320040"/>
          </a:xfrm>
          <a:prstGeom prst="rect">
            <a:avLst/>
          </a:prstGeom>
          <a:noFill/>
          <a:ln/>
        </p:spPr>
        <p:txBody>
          <a:bodyPr wrap="square" lIns="0" tIns="0" rIns="0" bIns="0" rtlCol="0" anchor="t"/>
          <a:lstStyle/>
          <a:p>
            <a:pPr indent="0" marL="0">
              <a:buNone/>
            </a:pPr>
            <a:r>
              <a:rPr lang="en-US" sz="1100" i="1" dirty="0">
                <a:solidFill>
                  <a:schemeClr val="accent5"/>
                </a:solidFill>
              </a:rPr>
              <a:t>MarketsandMarkets, 2025</a:t>
            </a:r>
            <a:endParaRPr lang="en-US" sz="1100" dirty="0"/>
          </a:p>
        </p:txBody>
      </p:sp>
      <p:sp>
        <p:nvSpPr>
          <p:cNvPr id="17" name="Why now card 3"/>
          <p:cNvSpPr/>
          <p:nvPr/>
        </p:nvSpPr>
        <p:spPr>
          <a:xfrm>
            <a:off x="8046720" y="1645920"/>
            <a:ext cx="3474720" cy="4389120"/>
          </a:xfrm>
          <a:prstGeom prst="roundRect">
            <a:avLst>
              <a:gd name="adj" fmla="val 3158"/>
            </a:avLst>
          </a:prstGeom>
          <a:solidFill>
            <a:schemeClr val="bg1"/>
          </a:solidFill>
          <a:ln w="12700">
            <a:solidFill>
              <a:schemeClr val="accent6"/>
            </a:solidFill>
            <a:prstDash val="solid"/>
          </a:ln>
          <a:effectLst>
            <a:outerShdw sx="100000" sy="100000" kx="0" ky="0" algn="bl" rotWithShape="0" blurRad="101600" dist="25400" dir="5400000">
              <a:srgbClr val="1A1838">
                <a:alpha val="12000"/>
              </a:srgbClr>
            </a:outerShdw>
          </a:effectLst>
        </p:spPr>
      </p:sp>
      <p:sp>
        <p:nvSpPr>
          <p:cNvPr id="18" name="Why now 3 circle"/>
          <p:cNvSpPr/>
          <p:nvPr/>
        </p:nvSpPr>
        <p:spPr>
          <a:xfrm>
            <a:off x="8366760" y="1920240"/>
            <a:ext cx="640080" cy="640080"/>
          </a:xfrm>
          <a:prstGeom prst="ellipse">
            <a:avLst/>
          </a:prstGeom>
          <a:solidFill>
            <a:schemeClr val="bg2"/>
          </a:solidFill>
          <a:ln/>
        </p:spPr>
      </p:sp>
      <p:pic>
        <p:nvPicPr>
          <p:cNvPr id="19" name="Why now 3 icon" descr="preencoded.png">    </p:cNvPr>
          <p:cNvPicPr>
            <a:picLocks noChangeAspect="1"/>
          </p:cNvPicPr>
          <p:nvPr/>
        </p:nvPicPr>
        <p:blipFill>
          <a:blip r:embed="rId3"/>
          <a:stretch>
            <a:fillRect/>
          </a:stretch>
        </p:blipFill>
        <p:spPr>
          <a:xfrm>
            <a:off x="8520379" y="2073859"/>
            <a:ext cx="332842" cy="332842"/>
          </a:xfrm>
          <a:prstGeom prst="rect">
            <a:avLst/>
          </a:prstGeom>
        </p:spPr>
      </p:pic>
      <p:sp>
        <p:nvSpPr>
          <p:cNvPr id="20" name="Text 15"/>
          <p:cNvSpPr txBox="1"/>
          <p:nvPr/>
        </p:nvSpPr>
        <p:spPr>
          <a:xfrm>
            <a:off x="8366760" y="2697480"/>
            <a:ext cx="2926080" cy="685800"/>
          </a:xfrm>
          <a:prstGeom prst="rect">
            <a:avLst/>
          </a:prstGeom>
          <a:noFill/>
          <a:ln/>
        </p:spPr>
        <p:txBody>
          <a:bodyPr wrap="square" lIns="0" tIns="0" rIns="0" bIns="0" rtlCol="0" anchor="t"/>
          <a:lstStyle/>
          <a:p>
            <a:pPr indent="0" marL="0">
              <a:buNone/>
            </a:pPr>
            <a:r>
              <a:rPr lang="en-US" sz="3000" b="1" dirty="0">
                <a:solidFill>
                  <a:schemeClr val="accent1"/>
                </a:solidFill>
                <a:latin typeface="Arial" pitchFamily="34" charset="0"/>
                <a:ea typeface="Arial" pitchFamily="34" charset="-122"/>
                <a:cs typeface="Arial" pitchFamily="34" charset="-120"/>
              </a:rPr>
              <a:t>Cents a task</a:t>
            </a:r>
            <a:endParaRPr lang="en-US" sz="3000" dirty="0"/>
          </a:p>
        </p:txBody>
      </p:sp>
      <p:sp>
        <p:nvSpPr>
          <p:cNvPr id="21" name="Text 16"/>
          <p:cNvSpPr txBox="1"/>
          <p:nvPr/>
        </p:nvSpPr>
        <p:spPr>
          <a:xfrm>
            <a:off x="8366760" y="3429000"/>
            <a:ext cx="2926080" cy="594360"/>
          </a:xfrm>
          <a:prstGeom prst="rect">
            <a:avLst/>
          </a:prstGeom>
          <a:noFill/>
          <a:ln/>
        </p:spPr>
        <p:txBody>
          <a:bodyPr wrap="square" lIns="0" tIns="0" rIns="0" bIns="0" rtlCol="0" anchor="t"/>
          <a:lstStyle/>
          <a:p>
            <a:pPr indent="0" marL="0">
              <a:buNone/>
            </a:pPr>
            <a:r>
              <a:rPr lang="en-US" sz="1600" b="1" dirty="0">
                <a:solidFill>
                  <a:schemeClr val="tx2"/>
                </a:solidFill>
              </a:rPr>
              <a:t>Running an agent is now cheap</a:t>
            </a:r>
            <a:endParaRPr lang="en-US" sz="1600" dirty="0"/>
          </a:p>
        </p:txBody>
      </p:sp>
      <p:sp>
        <p:nvSpPr>
          <p:cNvPr id="22" name="Text 17"/>
          <p:cNvSpPr txBox="1"/>
          <p:nvPr/>
        </p:nvSpPr>
        <p:spPr>
          <a:xfrm>
            <a:off x="8366760" y="4069080"/>
            <a:ext cx="2926080" cy="1280160"/>
          </a:xfrm>
          <a:prstGeom prst="rect">
            <a:avLst/>
          </a:prstGeom>
          <a:noFill/>
          <a:ln/>
        </p:spPr>
        <p:txBody>
          <a:bodyPr wrap="square" lIns="0" tIns="0" rIns="0" bIns="0" rtlCol="0" anchor="t"/>
          <a:lstStyle/>
          <a:p>
            <a:pPr indent="0" marL="0">
              <a:buNone/>
            </a:pPr>
            <a:r>
              <a:rPr lang="en-US" sz="1400" dirty="0">
                <a:solidFill>
                  <a:schemeClr val="tx1"/>
                </a:solidFill>
              </a:rPr>
              <a:t>Small fast models take the volume and large models only the hard calls, so a governed task costs cents.</a:t>
            </a:r>
            <a:endParaRPr lang="en-US" sz="1400" dirty="0"/>
          </a:p>
        </p:txBody>
      </p:sp>
      <p:sp>
        <p:nvSpPr>
          <p:cNvPr id="23" name="Text 18"/>
          <p:cNvSpPr txBox="1"/>
          <p:nvPr/>
        </p:nvSpPr>
        <p:spPr>
          <a:xfrm>
            <a:off x="8366760" y="5532120"/>
            <a:ext cx="2926080" cy="320040"/>
          </a:xfrm>
          <a:prstGeom prst="rect">
            <a:avLst/>
          </a:prstGeom>
          <a:noFill/>
          <a:ln/>
        </p:spPr>
        <p:txBody>
          <a:bodyPr wrap="square" lIns="0" tIns="0" rIns="0" bIns="0" rtlCol="0" anchor="t"/>
          <a:lstStyle/>
          <a:p>
            <a:pPr indent="0" marL="0">
              <a:buNone/>
            </a:pPr>
            <a:r>
              <a:rPr lang="en-US" sz="1100" i="1" dirty="0">
                <a:solidFill>
                  <a:schemeClr val="accent5"/>
                </a:solidFill>
              </a:rPr>
              <a:t>Our model routing: Haiku, Sonnet, Opus</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6012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A USD 0.72M SOM, built bottom-up from 120 customers</a:t>
            </a:r>
            <a:endParaRPr lang="en-US" sz="3200" dirty="0"/>
          </a:p>
        </p:txBody>
      </p:sp>
      <p:sp>
        <p:nvSpPr>
          <p:cNvPr id="3" name="TAM circle"/>
          <p:cNvSpPr/>
          <p:nvPr/>
        </p:nvSpPr>
        <p:spPr>
          <a:xfrm>
            <a:off x="640080" y="1554480"/>
            <a:ext cx="4480560" cy="4480560"/>
          </a:xfrm>
          <a:prstGeom prst="ellipse">
            <a:avLst/>
          </a:prstGeom>
          <a:solidFill>
            <a:schemeClr val="bg2"/>
          </a:solidFill>
          <a:ln w="12700">
            <a:solidFill>
              <a:schemeClr val="accent6"/>
            </a:solidFill>
            <a:prstDash val="solid"/>
          </a:ln>
        </p:spPr>
      </p:sp>
      <p:sp>
        <p:nvSpPr>
          <p:cNvPr id="4" name="SAM circle"/>
          <p:cNvSpPr/>
          <p:nvPr/>
        </p:nvSpPr>
        <p:spPr>
          <a:xfrm>
            <a:off x="1371600" y="2743200"/>
            <a:ext cx="3017520" cy="3017520"/>
          </a:xfrm>
          <a:prstGeom prst="ellipse">
            <a:avLst/>
          </a:prstGeom>
          <a:solidFill>
            <a:schemeClr val="accent6"/>
          </a:solidFill>
          <a:ln/>
        </p:spPr>
      </p:sp>
      <p:sp>
        <p:nvSpPr>
          <p:cNvPr id="5" name="SOM circle"/>
          <p:cNvSpPr/>
          <p:nvPr/>
        </p:nvSpPr>
        <p:spPr>
          <a:xfrm>
            <a:off x="2103120" y="3931920"/>
            <a:ext cx="1554480" cy="1554480"/>
          </a:xfrm>
          <a:prstGeom prst="ellipse">
            <a:avLst/>
          </a:prstGeom>
          <a:solidFill>
            <a:schemeClr val="accent1"/>
          </a:solidFill>
          <a:ln/>
        </p:spPr>
      </p:sp>
      <p:sp>
        <p:nvSpPr>
          <p:cNvPr id="6" name="Text 4"/>
          <p:cNvSpPr txBox="1"/>
          <p:nvPr/>
        </p:nvSpPr>
        <p:spPr>
          <a:xfrm>
            <a:off x="1508760" y="1828800"/>
            <a:ext cx="2743200" cy="640080"/>
          </a:xfrm>
          <a:prstGeom prst="rect">
            <a:avLst/>
          </a:prstGeom>
          <a:noFill/>
          <a:ln/>
        </p:spPr>
        <p:txBody>
          <a:bodyPr wrap="square" lIns="0" tIns="0" rIns="0" bIns="0" rtlCol="0" anchor="t"/>
          <a:lstStyle/>
          <a:p>
            <a:pPr algn="ctr" indent="0" marL="0">
              <a:buNone/>
            </a:pPr>
            <a:r>
              <a:rPr lang="en-US" sz="1500" b="1" dirty="0">
                <a:solidFill>
                  <a:schemeClr val="tx2"/>
                </a:solidFill>
              </a:rPr>
              <a:t>TAM  USD 52.6B</a:t>
            </a:r>
            <a:endParaRPr lang="en-US" sz="1500" dirty="0"/>
          </a:p>
          <a:p>
            <a:pPr algn="ctr" indent="0" marL="0">
              <a:buNone/>
            </a:pPr>
            <a:r>
              <a:rPr lang="en-US" sz="1100" dirty="0">
                <a:solidFill>
                  <a:schemeClr val="tx2"/>
                </a:solidFill>
              </a:rPr>
              <a:t>Global AI agents, 2030</a:t>
            </a:r>
            <a:endParaRPr lang="en-US" sz="1500" dirty="0"/>
          </a:p>
        </p:txBody>
      </p:sp>
      <p:sp>
        <p:nvSpPr>
          <p:cNvPr id="7" name="Text 5"/>
          <p:cNvSpPr txBox="1"/>
          <p:nvPr/>
        </p:nvSpPr>
        <p:spPr>
          <a:xfrm>
            <a:off x="1600200" y="3017520"/>
            <a:ext cx="2560320" cy="640080"/>
          </a:xfrm>
          <a:prstGeom prst="rect">
            <a:avLst/>
          </a:prstGeom>
          <a:noFill/>
          <a:ln/>
        </p:spPr>
        <p:txBody>
          <a:bodyPr wrap="square" lIns="0" tIns="0" rIns="0" bIns="0" rtlCol="0" anchor="t"/>
          <a:lstStyle/>
          <a:p>
            <a:pPr algn="ctr" indent="0" marL="0">
              <a:buNone/>
            </a:pPr>
            <a:r>
              <a:rPr lang="en-US" sz="1500" b="1" dirty="0">
                <a:solidFill>
                  <a:schemeClr val="tx2"/>
                </a:solidFill>
              </a:rPr>
              <a:t>SAM  USD 62M</a:t>
            </a:r>
            <a:endParaRPr lang="en-US" sz="1500" dirty="0"/>
          </a:p>
          <a:p>
            <a:pPr algn="ctr" indent="0" marL="0">
              <a:buNone/>
            </a:pPr>
            <a:r>
              <a:rPr lang="en-US" sz="1100" dirty="0">
                <a:solidFill>
                  <a:schemeClr val="tx2"/>
                </a:solidFill>
              </a:rPr>
              <a:t>Sri Lankan mid-size firms</a:t>
            </a:r>
            <a:endParaRPr lang="en-US" sz="1500" dirty="0"/>
          </a:p>
        </p:txBody>
      </p:sp>
      <p:sp>
        <p:nvSpPr>
          <p:cNvPr id="8" name="Text 6"/>
          <p:cNvSpPr txBox="1"/>
          <p:nvPr/>
        </p:nvSpPr>
        <p:spPr>
          <a:xfrm>
            <a:off x="2148840" y="4389120"/>
            <a:ext cx="1463040" cy="640080"/>
          </a:xfrm>
          <a:prstGeom prst="rect">
            <a:avLst/>
          </a:prstGeom>
          <a:noFill/>
          <a:ln/>
        </p:spPr>
        <p:txBody>
          <a:bodyPr wrap="square" lIns="0" tIns="0" rIns="0" bIns="0" rtlCol="0" anchor="t"/>
          <a:lstStyle/>
          <a:p>
            <a:pPr algn="ctr" indent="0" marL="0">
              <a:buNone/>
            </a:pPr>
            <a:r>
              <a:rPr lang="en-US" sz="1400" b="1" dirty="0">
                <a:solidFill>
                  <a:schemeClr val="bg1"/>
                </a:solidFill>
              </a:rPr>
              <a:t>SOM</a:t>
            </a:r>
            <a:endParaRPr lang="en-US" sz="1400" dirty="0"/>
          </a:p>
          <a:p>
            <a:pPr algn="ctr" indent="0" marL="0">
              <a:buNone/>
            </a:pPr>
            <a:r>
              <a:rPr lang="en-US" sz="1400" b="1" dirty="0">
                <a:solidFill>
                  <a:schemeClr val="bg1"/>
                </a:solidFill>
              </a:rPr>
              <a:t>USD 0.72M</a:t>
            </a:r>
            <a:endParaRPr lang="en-US" sz="1400" dirty="0"/>
          </a:p>
        </p:txBody>
      </p:sp>
      <p:sp>
        <p:nvSpPr>
          <p:cNvPr id="9" name="Text 7"/>
          <p:cNvSpPr txBox="1"/>
          <p:nvPr/>
        </p:nvSpPr>
        <p:spPr>
          <a:xfrm>
            <a:off x="5852160" y="1645920"/>
            <a:ext cx="5760720" cy="365760"/>
          </a:xfrm>
          <a:prstGeom prst="rect">
            <a:avLst/>
          </a:prstGeom>
          <a:noFill/>
          <a:ln/>
        </p:spPr>
        <p:txBody>
          <a:bodyPr wrap="square" lIns="0" tIns="0" rIns="0" bIns="0" rtlCol="0" anchor="t"/>
          <a:lstStyle/>
          <a:p>
            <a:pPr indent="0" marL="0">
              <a:buNone/>
            </a:pPr>
            <a:r>
              <a:rPr lang="en-US" sz="1800" b="1" dirty="0">
                <a:solidFill>
                  <a:schemeClr val="tx2"/>
                </a:solidFill>
              </a:rPr>
              <a:t>How we get to the SOM, month by month</a:t>
            </a:r>
            <a:endParaRPr lang="en-US" sz="1800" dirty="0"/>
          </a:p>
        </p:txBody>
      </p:sp>
      <p:graphicFrame>
        <p:nvGraphicFramePr>
          <p:cNvPr id="6" name="SOM table"/>
          <p:cNvGraphicFramePr>
            <a:graphicFrameLocks noGrp="1"/>
          </p:cNvGraphicFramePr>
          <p:nvPr>
            <p:extLst>
              <p:ext uri="{D42A27DB-BD31-4B8C-83A1-F6EECF244321}">
                <p14:modId xmlns:p14="http://schemas.microsoft.com/office/powerpoint/2010/main" val="1579011935"/>
              </p:ext>
            </p:extLst>
          </p:nvPr>
        </p:nvGraphicFramePr>
        <p:xfrm>
          <a:off x="5852160" y="2148840"/>
          <a:ext cx="5760720" cy="914400"/>
        </p:xfrm>
        <a:graphic>
          <a:graphicData uri="http://schemas.openxmlformats.org/drawingml/2006/table">
            <a:tbl>
              <a:tblPr/>
              <a:tblGrid>
                <a:gridCol w="1463040"/>
                <a:gridCol w="2377440"/>
                <a:gridCol w="1920240"/>
              </a:tblGrid>
              <a:tr h="384048">
                <a:tc>
                  <a:txBody>
                    <a:bodyPr/>
                    <a:lstStyle/>
                    <a:p>
                      <a:pPr indent="0" marL="0">
                        <a:buNone/>
                      </a:pPr>
                      <a:r>
                        <a:rPr lang="en-US" sz="1400" b="1" dirty="0">
                          <a:solidFill>
                            <a:schemeClr val="bg1"/>
                          </a:solidFill>
                        </a:rPr>
                        <a:t>Period</a:t>
                      </a:r>
                      <a:endParaRPr lang="en-US" sz="1400" dirty="0"/>
                    </a:p>
                  </a:txBody>
                  <a:tcPr marL="73152" marR="73152" marT="73152" marB="73152">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New customers a month</a:t>
                      </a:r>
                      <a:endParaRPr lang="en-US" sz="1400" dirty="0"/>
                    </a:p>
                  </a:txBody>
                  <a:tcPr marL="73152" marR="73152" marT="73152" marB="73152">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Customers at end</a:t>
                      </a:r>
                      <a:endParaRPr lang="en-US" sz="1400" dirty="0"/>
                    </a:p>
                  </a:txBody>
                  <a:tcPr marL="73152" marR="73152" marT="73152" marB="73152">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tx2"/>
                    </a:solidFill>
                  </a:tcPr>
                </a:tc>
              </a:tr>
              <a:tr h="384048">
                <a:tc>
                  <a:txBody>
                    <a:bodyPr/>
                    <a:lstStyle/>
                    <a:p>
                      <a:pPr indent="0" marL="0">
                        <a:buNone/>
                      </a:pPr>
                      <a:r>
                        <a:rPr lang="en-US" sz="1400" dirty="0">
                          <a:solidFill>
                            <a:schemeClr val="tx1"/>
                          </a:solidFill>
                        </a:rPr>
                        <a:t>Year 1</a:t>
                      </a:r>
                      <a:endParaRPr lang="en-US" sz="1400" dirty="0"/>
                    </a:p>
                  </a:txBody>
                  <a:tcPr marL="73152" marR="73152" marT="73152" marB="73152">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a:t>
                      </a:r>
                      <a:endParaRPr lang="en-US" sz="1400" dirty="0"/>
                    </a:p>
                  </a:txBody>
                  <a:tcPr marL="73152" marR="73152" marT="73152" marB="73152">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20</a:t>
                      </a:r>
                      <a:endParaRPr lang="en-US" sz="1400" dirty="0"/>
                    </a:p>
                  </a:txBody>
                  <a:tcPr marL="73152" marR="73152" marT="73152" marB="73152">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bg1"/>
                    </a:solidFill>
                  </a:tcPr>
                </a:tc>
              </a:tr>
              <a:tr h="384048">
                <a:tc>
                  <a:txBody>
                    <a:bodyPr/>
                    <a:lstStyle/>
                    <a:p>
                      <a:pPr indent="0" marL="0">
                        <a:buNone/>
                      </a:pPr>
                      <a:r>
                        <a:rPr lang="en-US" sz="1400" dirty="0">
                          <a:solidFill>
                            <a:schemeClr val="tx1"/>
                          </a:solidFill>
                        </a:rPr>
                        <a:t>Year 2</a:t>
                      </a:r>
                      <a:endParaRPr lang="en-US" sz="1400" dirty="0"/>
                    </a:p>
                  </a:txBody>
                  <a:tcPr marL="73152" marR="73152" marT="73152" marB="73152">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~2.5</a:t>
                      </a:r>
                      <a:endParaRPr lang="en-US" sz="1400" dirty="0"/>
                    </a:p>
                  </a:txBody>
                  <a:tcPr marL="73152" marR="73152" marT="73152" marB="73152">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50</a:t>
                      </a:r>
                      <a:endParaRPr lang="en-US" sz="1400" dirty="0"/>
                    </a:p>
                  </a:txBody>
                  <a:tcPr marL="73152" marR="73152" marT="73152" marB="73152">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bg1"/>
                    </a:solidFill>
                  </a:tcPr>
                </a:tc>
              </a:tr>
              <a:tr h="384048">
                <a:tc>
                  <a:txBody>
                    <a:bodyPr/>
                    <a:lstStyle/>
                    <a:p>
                      <a:pPr indent="0" marL="0">
                        <a:buNone/>
                      </a:pPr>
                      <a:r>
                        <a:rPr lang="en-US" sz="1400" dirty="0">
                          <a:solidFill>
                            <a:schemeClr val="tx1"/>
                          </a:solidFill>
                        </a:rPr>
                        <a:t>Year 3</a:t>
                      </a:r>
                      <a:endParaRPr lang="en-US" sz="1400" dirty="0"/>
                    </a:p>
                  </a:txBody>
                  <a:tcPr marL="73152" marR="73152" marT="73152" marB="73152">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~6</a:t>
                      </a:r>
                      <a:endParaRPr lang="en-US" sz="1400" dirty="0"/>
                    </a:p>
                  </a:txBody>
                  <a:tcPr marL="73152" marR="73152" marT="73152" marB="73152">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120</a:t>
                      </a:r>
                      <a:endParaRPr lang="en-US" sz="1400" dirty="0"/>
                    </a:p>
                  </a:txBody>
                  <a:tcPr marL="73152" marR="73152" marT="73152" marB="73152">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bg1"/>
                    </a:solidFill>
                  </a:tcPr>
                </a:tc>
              </a:tr>
            </a:tbl>
          </a:graphicData>
        </a:graphic>
      </p:graphicFrame>
      <p:sp>
        <p:nvSpPr>
          <p:cNvPr id="11" name="SOM math"/>
          <p:cNvSpPr/>
          <p:nvPr/>
        </p:nvSpPr>
        <p:spPr>
          <a:xfrm>
            <a:off x="5852160" y="3931920"/>
            <a:ext cx="5760720" cy="1143000"/>
          </a:xfrm>
          <a:prstGeom prst="roundRect">
            <a:avLst>
              <a:gd name="adj" fmla="val 9600"/>
            </a:avLst>
          </a:prstGeom>
          <a:solidFill>
            <a:schemeClr val="bg2"/>
          </a:solidFill>
          <a:ln w="12700">
            <a:solidFill>
              <a:schemeClr val="accent6"/>
            </a:solidFill>
            <a:prstDash val="solid"/>
          </a:ln>
          <a:effectLst>
            <a:outerShdw sx="100000" sy="100000" kx="0" ky="0" algn="bl" rotWithShape="0" blurRad="101600" dist="25400" dir="5400000">
              <a:srgbClr val="1A1838">
                <a:alpha val="12000"/>
              </a:srgbClr>
            </a:outerShdw>
          </a:effectLst>
        </p:spPr>
      </p:sp>
      <p:sp>
        <p:nvSpPr>
          <p:cNvPr id="12" name="Text 9"/>
          <p:cNvSpPr txBox="1"/>
          <p:nvPr/>
        </p:nvSpPr>
        <p:spPr>
          <a:xfrm>
            <a:off x="6126480" y="4114800"/>
            <a:ext cx="5303520" cy="365760"/>
          </a:xfrm>
          <a:prstGeom prst="rect">
            <a:avLst/>
          </a:prstGeom>
          <a:noFill/>
          <a:ln/>
        </p:spPr>
        <p:txBody>
          <a:bodyPr wrap="square" lIns="0" tIns="0" rIns="0" bIns="0" rtlCol="0" anchor="t"/>
          <a:lstStyle/>
          <a:p>
            <a:pPr indent="0" marL="0">
              <a:buNone/>
            </a:pPr>
            <a:r>
              <a:rPr lang="en-US" sz="1800" dirty="0">
                <a:solidFill>
                  <a:schemeClr val="tx2"/>
                </a:solidFill>
              </a:rPr>
              <a:t>120 customers  ×  USD 6,000 a year  =  </a:t>
            </a:r>
            <a:pPr indent="0" marL="0">
              <a:buNone/>
            </a:pPr>
            <a:r>
              <a:rPr lang="en-US" sz="1800" b="1" dirty="0">
                <a:solidFill>
                  <a:schemeClr val="accent1"/>
                </a:solidFill>
              </a:rPr>
              <a:t>USD 0.72M ARR</a:t>
            </a:r>
            <a:endParaRPr lang="en-US" sz="1800" dirty="0"/>
          </a:p>
        </p:txBody>
      </p:sp>
      <p:sp>
        <p:nvSpPr>
          <p:cNvPr id="13" name="Text 10"/>
          <p:cNvSpPr txBox="1"/>
          <p:nvPr/>
        </p:nvSpPr>
        <p:spPr>
          <a:xfrm>
            <a:off x="6126480" y="4526280"/>
            <a:ext cx="5303520" cy="457200"/>
          </a:xfrm>
          <a:prstGeom prst="rect">
            <a:avLst/>
          </a:prstGeom>
          <a:noFill/>
          <a:ln/>
        </p:spPr>
        <p:txBody>
          <a:bodyPr wrap="square" lIns="0" tIns="0" rIns="0" bIns="0" rtlCol="0" anchor="t"/>
          <a:lstStyle/>
          <a:p>
            <a:pPr indent="0" marL="0">
              <a:buNone/>
            </a:pPr>
            <a:r>
              <a:rPr lang="en-US" sz="1300" dirty="0">
                <a:solidFill>
                  <a:schemeClr val="accent5"/>
                </a:solidFill>
              </a:rPr>
              <a:t>That is ~1% of the 10,405 mid-size firms, so it is reachable with founder-led sales and partners.</a:t>
            </a:r>
            <a:endParaRPr lang="en-US" sz="1300" dirty="0"/>
          </a:p>
        </p:txBody>
      </p:sp>
      <p:sp>
        <p:nvSpPr>
          <p:cNvPr id="14" name="Text 11"/>
          <p:cNvSpPr txBox="1"/>
          <p:nvPr/>
        </p:nvSpPr>
        <p:spPr>
          <a:xfrm>
            <a:off x="5852160" y="5349240"/>
            <a:ext cx="5760720" cy="640080"/>
          </a:xfrm>
          <a:prstGeom prst="rect">
            <a:avLst/>
          </a:prstGeom>
          <a:noFill/>
          <a:ln/>
        </p:spPr>
        <p:txBody>
          <a:bodyPr wrap="square" lIns="0" tIns="0" rIns="0" bIns="0" rtlCol="0" anchor="t"/>
          <a:lstStyle/>
          <a:p>
            <a:pPr indent="0" marL="0">
              <a:buNone/>
            </a:pPr>
            <a:r>
              <a:rPr lang="en-US" sz="1100" i="1" dirty="0">
                <a:solidFill>
                  <a:schemeClr val="accent5"/>
                </a:solidFill>
              </a:rPr>
              <a:t>Sources: MarketsandMarkets AI Agents report (2025); Dept. of Census and Statistics, Economic Census 2013/14 (10,405 medium establishments). SAM = 10,405 × USD 6,000.</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6012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USD 500 a month per customer, and 5x back on every customer won</a:t>
            </a:r>
            <a:endParaRPr lang="en-US" sz="3200" dirty="0"/>
          </a:p>
        </p:txBody>
      </p:sp>
      <p:sp>
        <p:nvSpPr>
          <p:cNvPr id="3" name="Tier Starter"/>
          <p:cNvSpPr/>
          <p:nvPr/>
        </p:nvSpPr>
        <p:spPr>
          <a:xfrm>
            <a:off x="548640" y="1600200"/>
            <a:ext cx="2148840" cy="2926080"/>
          </a:xfrm>
          <a:prstGeom prst="roundRect">
            <a:avLst>
              <a:gd name="adj" fmla="val 5106"/>
            </a:avLst>
          </a:prstGeom>
          <a:solidFill>
            <a:schemeClr val="bg1"/>
          </a:solidFill>
          <a:ln w="12700">
            <a:solidFill>
              <a:schemeClr val="accent6"/>
            </a:solidFill>
            <a:prstDash val="solid"/>
          </a:ln>
          <a:effectLst>
            <a:outerShdw sx="100000" sy="100000" kx="0" ky="0" algn="bl" rotWithShape="0" blurRad="101600" dist="25400" dir="5400000">
              <a:srgbClr val="1A1838">
                <a:alpha val="12000"/>
              </a:srgbClr>
            </a:outerShdw>
          </a:effectLst>
        </p:spPr>
      </p:sp>
      <p:sp>
        <p:nvSpPr>
          <p:cNvPr id="4" name="Text 2"/>
          <p:cNvSpPr txBox="1"/>
          <p:nvPr/>
        </p:nvSpPr>
        <p:spPr>
          <a:xfrm>
            <a:off x="777240" y="1783080"/>
            <a:ext cx="1737360" cy="320040"/>
          </a:xfrm>
          <a:prstGeom prst="rect">
            <a:avLst/>
          </a:prstGeom>
          <a:noFill/>
          <a:ln/>
        </p:spPr>
        <p:txBody>
          <a:bodyPr wrap="square" lIns="0" tIns="0" rIns="0" bIns="0" rtlCol="0" anchor="t"/>
          <a:lstStyle/>
          <a:p>
            <a:pPr indent="0" marL="0">
              <a:buNone/>
            </a:pPr>
            <a:r>
              <a:rPr lang="en-US" sz="1600" b="1" dirty="0">
                <a:solidFill>
                  <a:schemeClr val="tx2"/>
                </a:solidFill>
              </a:rPr>
              <a:t>Starter</a:t>
            </a:r>
            <a:endParaRPr lang="en-US" sz="1600" dirty="0"/>
          </a:p>
        </p:txBody>
      </p:sp>
      <p:sp>
        <p:nvSpPr>
          <p:cNvPr id="5" name="Text 3"/>
          <p:cNvSpPr txBox="1"/>
          <p:nvPr/>
        </p:nvSpPr>
        <p:spPr>
          <a:xfrm>
            <a:off x="777240" y="2148840"/>
            <a:ext cx="1783080" cy="45720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USD 299</a:t>
            </a:r>
            <a:endParaRPr lang="en-US" sz="2600" dirty="0"/>
          </a:p>
        </p:txBody>
      </p:sp>
      <p:sp>
        <p:nvSpPr>
          <p:cNvPr id="6" name="Text 4"/>
          <p:cNvSpPr txBox="1"/>
          <p:nvPr/>
        </p:nvSpPr>
        <p:spPr>
          <a:xfrm>
            <a:off x="777240" y="2606040"/>
            <a:ext cx="1737360" cy="274320"/>
          </a:xfrm>
          <a:prstGeom prst="rect">
            <a:avLst/>
          </a:prstGeom>
          <a:noFill/>
          <a:ln/>
        </p:spPr>
        <p:txBody>
          <a:bodyPr wrap="square" lIns="0" tIns="0" rIns="0" bIns="0" rtlCol="0" anchor="t"/>
          <a:lstStyle/>
          <a:p>
            <a:pPr indent="0" marL="0">
              <a:buNone/>
            </a:pPr>
            <a:r>
              <a:rPr lang="en-US" sz="1200" dirty="0">
                <a:solidFill>
                  <a:schemeClr val="accent5"/>
                </a:solidFill>
              </a:rPr>
              <a:t>per month</a:t>
            </a:r>
            <a:endParaRPr lang="en-US" sz="1200" dirty="0"/>
          </a:p>
        </p:txBody>
      </p:sp>
      <p:sp>
        <p:nvSpPr>
          <p:cNvPr id="7" name="Text 5"/>
          <p:cNvSpPr txBox="1"/>
          <p:nvPr/>
        </p:nvSpPr>
        <p:spPr>
          <a:xfrm>
            <a:off x="777240" y="3017520"/>
            <a:ext cx="1737360" cy="1417320"/>
          </a:xfrm>
          <a:prstGeom prst="rect">
            <a:avLst/>
          </a:prstGeom>
          <a:noFill/>
          <a:ln/>
        </p:spPr>
        <p:txBody>
          <a:bodyPr wrap="square" lIns="0" tIns="0" rIns="0" bIns="0" rtlCol="0" anchor="t"/>
          <a:lstStyle/>
          <a:p>
            <a:pPr indent="0" marL="0">
              <a:spcAft>
                <a:spcPts val="600"/>
              </a:spcAft>
              <a:buNone/>
            </a:pPr>
            <a:r>
              <a:rPr lang="en-US" sz="1300" dirty="0">
                <a:solidFill>
                  <a:schemeClr val="tx1"/>
                </a:solidFill>
              </a:rPr>
              <a:t>3 agent loops, e.g. care, refunds, scheduling</a:t>
            </a:r>
            <a:endParaRPr lang="en-US" sz="1300" dirty="0"/>
          </a:p>
          <a:p>
            <a:pPr indent="0" marL="0">
              <a:spcAft>
                <a:spcPts val="600"/>
              </a:spcAft>
              <a:buNone/>
            </a:pPr>
            <a:r>
              <a:rPr lang="en-US" sz="1300" dirty="0">
                <a:solidFill>
                  <a:schemeClr val="tx1"/>
                </a:solidFill>
              </a:rPr>
              <a:t>2,000 governed tasks a month</a:t>
            </a:r>
            <a:endParaRPr lang="en-US" sz="1300" dirty="0"/>
          </a:p>
        </p:txBody>
      </p:sp>
      <p:sp>
        <p:nvSpPr>
          <p:cNvPr id="8" name="Tier Growth"/>
          <p:cNvSpPr/>
          <p:nvPr/>
        </p:nvSpPr>
        <p:spPr>
          <a:xfrm>
            <a:off x="2880360" y="1600200"/>
            <a:ext cx="2148840" cy="2926080"/>
          </a:xfrm>
          <a:prstGeom prst="roundRect">
            <a:avLst>
              <a:gd name="adj" fmla="val 5106"/>
            </a:avLst>
          </a:prstGeom>
          <a:solidFill>
            <a:schemeClr val="bg2"/>
          </a:solidFill>
          <a:ln w="12700">
            <a:solidFill>
              <a:schemeClr val="accent6"/>
            </a:solidFill>
            <a:prstDash val="solid"/>
          </a:ln>
          <a:effectLst>
            <a:outerShdw sx="100000" sy="100000" kx="0" ky="0" algn="bl" rotWithShape="0" blurRad="101600" dist="25400" dir="5400000">
              <a:srgbClr val="1A1838">
                <a:alpha val="12000"/>
              </a:srgbClr>
            </a:outerShdw>
          </a:effectLst>
        </p:spPr>
      </p:sp>
      <p:sp>
        <p:nvSpPr>
          <p:cNvPr id="9" name="Text 7"/>
          <p:cNvSpPr txBox="1"/>
          <p:nvPr/>
        </p:nvSpPr>
        <p:spPr>
          <a:xfrm>
            <a:off x="3108960" y="1783080"/>
            <a:ext cx="1737360" cy="320040"/>
          </a:xfrm>
          <a:prstGeom prst="rect">
            <a:avLst/>
          </a:prstGeom>
          <a:noFill/>
          <a:ln/>
        </p:spPr>
        <p:txBody>
          <a:bodyPr wrap="square" lIns="0" tIns="0" rIns="0" bIns="0" rtlCol="0" anchor="t"/>
          <a:lstStyle/>
          <a:p>
            <a:pPr indent="0" marL="0">
              <a:buNone/>
            </a:pPr>
            <a:r>
              <a:rPr lang="en-US" sz="1600" b="1" dirty="0">
                <a:solidFill>
                  <a:schemeClr val="tx2"/>
                </a:solidFill>
              </a:rPr>
              <a:t>Growth</a:t>
            </a:r>
            <a:endParaRPr lang="en-US" sz="1600" dirty="0"/>
          </a:p>
        </p:txBody>
      </p:sp>
      <p:sp>
        <p:nvSpPr>
          <p:cNvPr id="10" name="Text 8"/>
          <p:cNvSpPr txBox="1"/>
          <p:nvPr/>
        </p:nvSpPr>
        <p:spPr>
          <a:xfrm>
            <a:off x="3108960" y="2148840"/>
            <a:ext cx="1783080" cy="45720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USD 699</a:t>
            </a:r>
            <a:endParaRPr lang="en-US" sz="2600" dirty="0"/>
          </a:p>
        </p:txBody>
      </p:sp>
      <p:sp>
        <p:nvSpPr>
          <p:cNvPr id="11" name="Text 9"/>
          <p:cNvSpPr txBox="1"/>
          <p:nvPr/>
        </p:nvSpPr>
        <p:spPr>
          <a:xfrm>
            <a:off x="3108960" y="2606040"/>
            <a:ext cx="1737360" cy="274320"/>
          </a:xfrm>
          <a:prstGeom prst="rect">
            <a:avLst/>
          </a:prstGeom>
          <a:noFill/>
          <a:ln/>
        </p:spPr>
        <p:txBody>
          <a:bodyPr wrap="square" lIns="0" tIns="0" rIns="0" bIns="0" rtlCol="0" anchor="t"/>
          <a:lstStyle/>
          <a:p>
            <a:pPr indent="0" marL="0">
              <a:buNone/>
            </a:pPr>
            <a:r>
              <a:rPr lang="en-US" sz="1200" dirty="0">
                <a:solidFill>
                  <a:schemeClr val="accent5"/>
                </a:solidFill>
              </a:rPr>
              <a:t>per month</a:t>
            </a:r>
            <a:endParaRPr lang="en-US" sz="1200" dirty="0"/>
          </a:p>
        </p:txBody>
      </p:sp>
      <p:sp>
        <p:nvSpPr>
          <p:cNvPr id="12" name="Text 10"/>
          <p:cNvSpPr txBox="1"/>
          <p:nvPr/>
        </p:nvSpPr>
        <p:spPr>
          <a:xfrm>
            <a:off x="3108960" y="3017520"/>
            <a:ext cx="1737360" cy="1417320"/>
          </a:xfrm>
          <a:prstGeom prst="rect">
            <a:avLst/>
          </a:prstGeom>
          <a:noFill/>
          <a:ln/>
        </p:spPr>
        <p:txBody>
          <a:bodyPr wrap="square" lIns="0" tIns="0" rIns="0" bIns="0" rtlCol="0" anchor="t"/>
          <a:lstStyle/>
          <a:p>
            <a:pPr indent="0" marL="0">
              <a:spcAft>
                <a:spcPts val="600"/>
              </a:spcAft>
              <a:buNone/>
            </a:pPr>
            <a:r>
              <a:rPr lang="en-US" sz="1300" dirty="0">
                <a:solidFill>
                  <a:schemeClr val="tx1"/>
                </a:solidFill>
              </a:rPr>
              <a:t>Up to 8 loops, nightly learning and Skillify</a:t>
            </a:r>
            <a:endParaRPr lang="en-US" sz="1300" dirty="0"/>
          </a:p>
          <a:p>
            <a:pPr indent="0" marL="0">
              <a:spcAft>
                <a:spcPts val="600"/>
              </a:spcAft>
              <a:buNone/>
            </a:pPr>
            <a:r>
              <a:rPr lang="en-US" sz="1300" dirty="0">
                <a:solidFill>
                  <a:schemeClr val="tx1"/>
                </a:solidFill>
              </a:rPr>
              <a:t>PDPA readiness and evidence requests</a:t>
            </a:r>
            <a:endParaRPr lang="en-US" sz="1300" dirty="0"/>
          </a:p>
        </p:txBody>
      </p:sp>
      <p:sp>
        <p:nvSpPr>
          <p:cNvPr id="13" name="Tier Scale"/>
          <p:cNvSpPr/>
          <p:nvPr/>
        </p:nvSpPr>
        <p:spPr>
          <a:xfrm>
            <a:off x="5212080" y="1600200"/>
            <a:ext cx="2148840" cy="2926080"/>
          </a:xfrm>
          <a:prstGeom prst="roundRect">
            <a:avLst>
              <a:gd name="adj" fmla="val 5106"/>
            </a:avLst>
          </a:prstGeom>
          <a:solidFill>
            <a:schemeClr val="bg1"/>
          </a:solidFill>
          <a:ln w="12700">
            <a:solidFill>
              <a:schemeClr val="accent6"/>
            </a:solidFill>
            <a:prstDash val="solid"/>
          </a:ln>
          <a:effectLst>
            <a:outerShdw sx="100000" sy="100000" kx="0" ky="0" algn="bl" rotWithShape="0" blurRad="101600" dist="25400" dir="5400000">
              <a:srgbClr val="1A1838">
                <a:alpha val="12000"/>
              </a:srgbClr>
            </a:outerShdw>
          </a:effectLst>
        </p:spPr>
      </p:sp>
      <p:sp>
        <p:nvSpPr>
          <p:cNvPr id="14" name="Text 12"/>
          <p:cNvSpPr txBox="1"/>
          <p:nvPr/>
        </p:nvSpPr>
        <p:spPr>
          <a:xfrm>
            <a:off x="5440680" y="1783080"/>
            <a:ext cx="1737360" cy="320040"/>
          </a:xfrm>
          <a:prstGeom prst="rect">
            <a:avLst/>
          </a:prstGeom>
          <a:noFill/>
          <a:ln/>
        </p:spPr>
        <p:txBody>
          <a:bodyPr wrap="square" lIns="0" tIns="0" rIns="0" bIns="0" rtlCol="0" anchor="t"/>
          <a:lstStyle/>
          <a:p>
            <a:pPr indent="0" marL="0">
              <a:buNone/>
            </a:pPr>
            <a:r>
              <a:rPr lang="en-US" sz="1600" b="1" dirty="0">
                <a:solidFill>
                  <a:schemeClr val="tx2"/>
                </a:solidFill>
              </a:rPr>
              <a:t>Scale</a:t>
            </a:r>
            <a:endParaRPr lang="en-US" sz="1600" dirty="0"/>
          </a:p>
        </p:txBody>
      </p:sp>
      <p:sp>
        <p:nvSpPr>
          <p:cNvPr id="15" name="Text 13"/>
          <p:cNvSpPr txBox="1"/>
          <p:nvPr/>
        </p:nvSpPr>
        <p:spPr>
          <a:xfrm>
            <a:off x="5440680" y="2148840"/>
            <a:ext cx="1783080" cy="45720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USD 1,499</a:t>
            </a:r>
            <a:endParaRPr lang="en-US" sz="2600" dirty="0"/>
          </a:p>
        </p:txBody>
      </p:sp>
      <p:sp>
        <p:nvSpPr>
          <p:cNvPr id="16" name="Text 14"/>
          <p:cNvSpPr txBox="1"/>
          <p:nvPr/>
        </p:nvSpPr>
        <p:spPr>
          <a:xfrm>
            <a:off x="5440680" y="2606040"/>
            <a:ext cx="1737360" cy="274320"/>
          </a:xfrm>
          <a:prstGeom prst="rect">
            <a:avLst/>
          </a:prstGeom>
          <a:noFill/>
          <a:ln/>
        </p:spPr>
        <p:txBody>
          <a:bodyPr wrap="square" lIns="0" tIns="0" rIns="0" bIns="0" rtlCol="0" anchor="t"/>
          <a:lstStyle/>
          <a:p>
            <a:pPr indent="0" marL="0">
              <a:buNone/>
            </a:pPr>
            <a:r>
              <a:rPr lang="en-US" sz="1200" dirty="0">
                <a:solidFill>
                  <a:schemeClr val="accent5"/>
                </a:solidFill>
              </a:rPr>
              <a:t>per month</a:t>
            </a:r>
            <a:endParaRPr lang="en-US" sz="1200" dirty="0"/>
          </a:p>
        </p:txBody>
      </p:sp>
      <p:sp>
        <p:nvSpPr>
          <p:cNvPr id="17" name="Text 15"/>
          <p:cNvSpPr txBox="1"/>
          <p:nvPr/>
        </p:nvSpPr>
        <p:spPr>
          <a:xfrm>
            <a:off x="5440680" y="3017520"/>
            <a:ext cx="1737360" cy="1417320"/>
          </a:xfrm>
          <a:prstGeom prst="rect">
            <a:avLst/>
          </a:prstGeom>
          <a:noFill/>
          <a:ln/>
        </p:spPr>
        <p:txBody>
          <a:bodyPr wrap="square" lIns="0" tIns="0" rIns="0" bIns="0" rtlCol="0" anchor="t"/>
          <a:lstStyle/>
          <a:p>
            <a:pPr indent="0" marL="0">
              <a:spcAft>
                <a:spcPts val="600"/>
              </a:spcAft>
              <a:buNone/>
            </a:pPr>
            <a:r>
              <a:rPr lang="en-US" sz="1300" dirty="0">
                <a:solidFill>
                  <a:schemeClr val="tx1"/>
                </a:solidFill>
              </a:rPr>
              <a:t>Unlimited loops across clusters</a:t>
            </a:r>
            <a:endParaRPr lang="en-US" sz="1300" dirty="0"/>
          </a:p>
          <a:p>
            <a:pPr indent="0" marL="0">
              <a:spcAft>
                <a:spcPts val="600"/>
              </a:spcAft>
              <a:buNone/>
            </a:pPr>
            <a:r>
              <a:rPr lang="en-US" sz="1300" dirty="0">
                <a:solidFill>
                  <a:schemeClr val="tx1"/>
                </a:solidFill>
              </a:rPr>
              <a:t>Two-person approvals and a named steward</a:t>
            </a:r>
            <a:endParaRPr lang="en-US" sz="1300" dirty="0"/>
          </a:p>
        </p:txBody>
      </p:sp>
      <p:sp>
        <p:nvSpPr>
          <p:cNvPr id="18" name="Text 16"/>
          <p:cNvSpPr txBox="1"/>
          <p:nvPr/>
        </p:nvSpPr>
        <p:spPr>
          <a:xfrm>
            <a:off x="548640" y="4709160"/>
            <a:ext cx="6858000" cy="548640"/>
          </a:xfrm>
          <a:prstGeom prst="rect">
            <a:avLst/>
          </a:prstGeom>
          <a:noFill/>
          <a:ln/>
        </p:spPr>
        <p:txBody>
          <a:bodyPr wrap="square" lIns="0" tIns="0" rIns="0" bIns="0" rtlCol="0" anchor="t"/>
          <a:lstStyle/>
          <a:p>
            <a:pPr indent="0" marL="0">
              <a:buNone/>
            </a:pPr>
            <a:r>
              <a:rPr lang="en-US" sz="1400" dirty="0">
                <a:solidFill>
                  <a:schemeClr val="tx2"/>
                </a:solidFill>
              </a:rPr>
              <a:t>Billed monthly per company. Expected mix 60 / 35 / 5 gives a blended USD 500 a month (USD 6,000 a year).</a:t>
            </a:r>
            <a:endParaRPr lang="en-US" sz="1400" dirty="0"/>
          </a:p>
        </p:txBody>
      </p:sp>
      <p:sp>
        <p:nvSpPr>
          <p:cNvPr id="19" name="Text 17"/>
          <p:cNvSpPr txBox="1"/>
          <p:nvPr/>
        </p:nvSpPr>
        <p:spPr>
          <a:xfrm>
            <a:off x="548640" y="5303520"/>
            <a:ext cx="6858000" cy="685800"/>
          </a:xfrm>
          <a:prstGeom prst="rect">
            <a:avLst/>
          </a:prstGeom>
          <a:noFill/>
          <a:ln/>
        </p:spPr>
        <p:txBody>
          <a:bodyPr wrap="square" lIns="0" tIns="0" rIns="0" bIns="0" rtlCol="0" anchor="t"/>
          <a:lstStyle/>
          <a:p>
            <a:pPr indent="0" marL="0">
              <a:buNone/>
            </a:pPr>
            <a:r>
              <a:rPr lang="en-US" sz="1200" i="1" dirty="0">
                <a:solidFill>
                  <a:schemeClr val="accent5"/>
                </a:solidFill>
              </a:rPr>
              <a:t>Why USD 299: one support hire in Colombo costs ~LKR 120,000 a month and covers one shift. Intercom's AI agent charges USD 0.99 per resolved case.</a:t>
            </a:r>
            <a:endParaRPr lang="en-US" sz="1200" dirty="0"/>
          </a:p>
        </p:txBody>
      </p:sp>
      <p:sp>
        <p:nvSpPr>
          <p:cNvPr id="20" name="Text 18"/>
          <p:cNvSpPr txBox="1"/>
          <p:nvPr/>
        </p:nvSpPr>
        <p:spPr>
          <a:xfrm>
            <a:off x="7863840" y="1600200"/>
            <a:ext cx="3749040" cy="320040"/>
          </a:xfrm>
          <a:prstGeom prst="rect">
            <a:avLst/>
          </a:prstGeom>
          <a:noFill/>
          <a:ln/>
        </p:spPr>
        <p:txBody>
          <a:bodyPr wrap="square" lIns="0" tIns="0" rIns="0" bIns="0" rtlCol="0" anchor="t"/>
          <a:lstStyle/>
          <a:p>
            <a:pPr indent="0" marL="0">
              <a:buNone/>
            </a:pPr>
            <a:r>
              <a:rPr lang="en-US" sz="1600" b="1" dirty="0">
                <a:solidFill>
                  <a:schemeClr val="tx2"/>
                </a:solidFill>
              </a:rPr>
              <a:t>Unit economics (targets)</a:t>
            </a:r>
            <a:endParaRPr lang="en-US" sz="1600" dirty="0"/>
          </a:p>
        </p:txBody>
      </p:sp>
      <p:sp>
        <p:nvSpPr>
          <p:cNvPr id="21" name="Tile LTV to CAC"/>
          <p:cNvSpPr/>
          <p:nvPr/>
        </p:nvSpPr>
        <p:spPr>
          <a:xfrm>
            <a:off x="7863840" y="2057400"/>
            <a:ext cx="1783080" cy="1234440"/>
          </a:xfrm>
          <a:prstGeom prst="roundRect">
            <a:avLst>
              <a:gd name="adj" fmla="val 8889"/>
            </a:avLst>
          </a:prstGeom>
          <a:solidFill>
            <a:schemeClr val="bg1"/>
          </a:solidFill>
          <a:ln w="12700">
            <a:solidFill>
              <a:schemeClr val="accent6"/>
            </a:solidFill>
            <a:prstDash val="solid"/>
          </a:ln>
          <a:effectLst>
            <a:outerShdw sx="100000" sy="100000" kx="0" ky="0" algn="bl" rotWithShape="0" blurRad="101600" dist="25400" dir="5400000">
              <a:srgbClr val="1A1838">
                <a:alpha val="12000"/>
              </a:srgbClr>
            </a:outerShdw>
          </a:effectLst>
        </p:spPr>
      </p:sp>
      <p:sp>
        <p:nvSpPr>
          <p:cNvPr id="22" name="Text 20"/>
          <p:cNvSpPr txBox="1"/>
          <p:nvPr/>
        </p:nvSpPr>
        <p:spPr>
          <a:xfrm>
            <a:off x="8001000" y="2240280"/>
            <a:ext cx="1554480" cy="502920"/>
          </a:xfrm>
          <a:prstGeom prst="rect">
            <a:avLst/>
          </a:prstGeom>
          <a:noFill/>
          <a:ln/>
        </p:spPr>
        <p:txBody>
          <a:bodyPr wrap="square" lIns="0" tIns="0" rIns="0" bIns="0" rtlCol="0" anchor="t"/>
          <a:lstStyle/>
          <a:p>
            <a:pPr algn="ctr" indent="0" marL="0">
              <a:buNone/>
            </a:pPr>
            <a:r>
              <a:rPr lang="en-US" sz="2400" b="1" dirty="0">
                <a:solidFill>
                  <a:schemeClr val="accent2"/>
                </a:solidFill>
                <a:latin typeface="Arial" pitchFamily="34" charset="0"/>
                <a:ea typeface="Arial" pitchFamily="34" charset="-122"/>
                <a:cs typeface="Arial" pitchFamily="34" charset="-120"/>
              </a:rPr>
              <a:t>5 : 1</a:t>
            </a:r>
            <a:endParaRPr lang="en-US" sz="2400" dirty="0"/>
          </a:p>
        </p:txBody>
      </p:sp>
      <p:sp>
        <p:nvSpPr>
          <p:cNvPr id="23" name="Text 21"/>
          <p:cNvSpPr txBox="1"/>
          <p:nvPr/>
        </p:nvSpPr>
        <p:spPr>
          <a:xfrm>
            <a:off x="8001000" y="2807208"/>
            <a:ext cx="1554480" cy="365760"/>
          </a:xfrm>
          <a:prstGeom prst="rect">
            <a:avLst/>
          </a:prstGeom>
          <a:noFill/>
          <a:ln/>
        </p:spPr>
        <p:txBody>
          <a:bodyPr wrap="square" lIns="0" tIns="0" rIns="0" bIns="0" rtlCol="0" anchor="t"/>
          <a:lstStyle/>
          <a:p>
            <a:pPr algn="ctr" indent="0" marL="0">
              <a:buNone/>
            </a:pPr>
            <a:r>
              <a:rPr lang="en-US" sz="1200" dirty="0">
                <a:solidFill>
                  <a:schemeClr val="accent5"/>
                </a:solidFill>
              </a:rPr>
              <a:t>LTV to CAC</a:t>
            </a:r>
            <a:endParaRPr lang="en-US" sz="1200" dirty="0"/>
          </a:p>
        </p:txBody>
      </p:sp>
      <p:sp>
        <p:nvSpPr>
          <p:cNvPr id="24" name="Tile Cost to win a customer"/>
          <p:cNvSpPr/>
          <p:nvPr/>
        </p:nvSpPr>
        <p:spPr>
          <a:xfrm>
            <a:off x="9784080" y="2057400"/>
            <a:ext cx="1783080" cy="1234440"/>
          </a:xfrm>
          <a:prstGeom prst="roundRect">
            <a:avLst>
              <a:gd name="adj" fmla="val 8889"/>
            </a:avLst>
          </a:prstGeom>
          <a:solidFill>
            <a:schemeClr val="bg1"/>
          </a:solidFill>
          <a:ln w="12700">
            <a:solidFill>
              <a:schemeClr val="accent6"/>
            </a:solidFill>
            <a:prstDash val="solid"/>
          </a:ln>
          <a:effectLst>
            <a:outerShdw sx="100000" sy="100000" kx="0" ky="0" algn="bl" rotWithShape="0" blurRad="101600" dist="25400" dir="5400000">
              <a:srgbClr val="1A1838">
                <a:alpha val="12000"/>
              </a:srgbClr>
            </a:outerShdw>
          </a:effectLst>
        </p:spPr>
      </p:sp>
      <p:sp>
        <p:nvSpPr>
          <p:cNvPr id="25" name="Text 23"/>
          <p:cNvSpPr txBox="1"/>
          <p:nvPr/>
        </p:nvSpPr>
        <p:spPr>
          <a:xfrm>
            <a:off x="9921240" y="2240280"/>
            <a:ext cx="1554480" cy="502920"/>
          </a:xfrm>
          <a:prstGeom prst="rect">
            <a:avLst/>
          </a:prstGeom>
          <a:noFill/>
          <a:ln/>
        </p:spPr>
        <p:txBody>
          <a:bodyPr wrap="square" lIns="0" tIns="0" rIns="0" bIns="0" rtlCol="0" anchor="t"/>
          <a:lstStyle/>
          <a:p>
            <a:pPr algn="ctr" indent="0" marL="0">
              <a:buNone/>
            </a:pPr>
            <a:r>
              <a:rPr lang="en-US" sz="2400" b="1" dirty="0">
                <a:solidFill>
                  <a:schemeClr val="tx2"/>
                </a:solidFill>
                <a:latin typeface="Arial" pitchFamily="34" charset="0"/>
                <a:ea typeface="Arial" pitchFamily="34" charset="-122"/>
                <a:cs typeface="Arial" pitchFamily="34" charset="-120"/>
              </a:rPr>
              <a:t>USD 1,800</a:t>
            </a:r>
            <a:endParaRPr lang="en-US" sz="2400" dirty="0"/>
          </a:p>
        </p:txBody>
      </p:sp>
      <p:sp>
        <p:nvSpPr>
          <p:cNvPr id="26" name="Text 24"/>
          <p:cNvSpPr txBox="1"/>
          <p:nvPr/>
        </p:nvSpPr>
        <p:spPr>
          <a:xfrm>
            <a:off x="9921240" y="2807208"/>
            <a:ext cx="1554480" cy="365760"/>
          </a:xfrm>
          <a:prstGeom prst="rect">
            <a:avLst/>
          </a:prstGeom>
          <a:noFill/>
          <a:ln/>
        </p:spPr>
        <p:txBody>
          <a:bodyPr wrap="square" lIns="0" tIns="0" rIns="0" bIns="0" rtlCol="0" anchor="t"/>
          <a:lstStyle/>
          <a:p>
            <a:pPr algn="ctr" indent="0" marL="0">
              <a:buNone/>
            </a:pPr>
            <a:r>
              <a:rPr lang="en-US" sz="1200" dirty="0">
                <a:solidFill>
                  <a:schemeClr val="accent5"/>
                </a:solidFill>
              </a:rPr>
              <a:t>Cost to win a customer</a:t>
            </a:r>
            <a:endParaRPr lang="en-US" sz="1200" dirty="0"/>
          </a:p>
        </p:txBody>
      </p:sp>
      <p:sp>
        <p:nvSpPr>
          <p:cNvPr id="27" name="Tile Payback period"/>
          <p:cNvSpPr/>
          <p:nvPr/>
        </p:nvSpPr>
        <p:spPr>
          <a:xfrm>
            <a:off x="7863840" y="3474720"/>
            <a:ext cx="1783080" cy="1234440"/>
          </a:xfrm>
          <a:prstGeom prst="roundRect">
            <a:avLst>
              <a:gd name="adj" fmla="val 8889"/>
            </a:avLst>
          </a:prstGeom>
          <a:solidFill>
            <a:schemeClr val="bg1"/>
          </a:solidFill>
          <a:ln w="12700">
            <a:solidFill>
              <a:schemeClr val="accent6"/>
            </a:solidFill>
            <a:prstDash val="solid"/>
          </a:ln>
          <a:effectLst>
            <a:outerShdw sx="100000" sy="100000" kx="0" ky="0" algn="bl" rotWithShape="0" blurRad="101600" dist="25400" dir="5400000">
              <a:srgbClr val="1A1838">
                <a:alpha val="12000"/>
              </a:srgbClr>
            </a:outerShdw>
          </a:effectLst>
        </p:spPr>
      </p:sp>
      <p:sp>
        <p:nvSpPr>
          <p:cNvPr id="28" name="Text 26"/>
          <p:cNvSpPr txBox="1"/>
          <p:nvPr/>
        </p:nvSpPr>
        <p:spPr>
          <a:xfrm>
            <a:off x="8001000" y="3657600"/>
            <a:ext cx="1554480" cy="502920"/>
          </a:xfrm>
          <a:prstGeom prst="rect">
            <a:avLst/>
          </a:prstGeom>
          <a:noFill/>
          <a:ln/>
        </p:spPr>
        <p:txBody>
          <a:bodyPr wrap="square" lIns="0" tIns="0" rIns="0" bIns="0" rtlCol="0" anchor="t"/>
          <a:lstStyle/>
          <a:p>
            <a:pPr algn="ctr" indent="0" marL="0">
              <a:buNone/>
            </a:pPr>
            <a:r>
              <a:rPr lang="en-US" sz="2400" b="1" dirty="0">
                <a:solidFill>
                  <a:schemeClr val="tx2"/>
                </a:solidFill>
                <a:latin typeface="Arial" pitchFamily="34" charset="0"/>
                <a:ea typeface="Arial" pitchFamily="34" charset="-122"/>
                <a:cs typeface="Arial" pitchFamily="34" charset="-120"/>
              </a:rPr>
              <a:t>5 months</a:t>
            </a:r>
            <a:endParaRPr lang="en-US" sz="2400" dirty="0"/>
          </a:p>
        </p:txBody>
      </p:sp>
      <p:sp>
        <p:nvSpPr>
          <p:cNvPr id="29" name="Text 27"/>
          <p:cNvSpPr txBox="1"/>
          <p:nvPr/>
        </p:nvSpPr>
        <p:spPr>
          <a:xfrm>
            <a:off x="8001000" y="4224528"/>
            <a:ext cx="1554480" cy="365760"/>
          </a:xfrm>
          <a:prstGeom prst="rect">
            <a:avLst/>
          </a:prstGeom>
          <a:noFill/>
          <a:ln/>
        </p:spPr>
        <p:txBody>
          <a:bodyPr wrap="square" lIns="0" tIns="0" rIns="0" bIns="0" rtlCol="0" anchor="t"/>
          <a:lstStyle/>
          <a:p>
            <a:pPr algn="ctr" indent="0" marL="0">
              <a:buNone/>
            </a:pPr>
            <a:r>
              <a:rPr lang="en-US" sz="1200" dirty="0">
                <a:solidFill>
                  <a:schemeClr val="accent5"/>
                </a:solidFill>
              </a:rPr>
              <a:t>Payback period</a:t>
            </a:r>
            <a:endParaRPr lang="en-US" sz="1200" dirty="0"/>
          </a:p>
        </p:txBody>
      </p:sp>
      <p:sp>
        <p:nvSpPr>
          <p:cNvPr id="30" name="Tile Gross margin"/>
          <p:cNvSpPr/>
          <p:nvPr/>
        </p:nvSpPr>
        <p:spPr>
          <a:xfrm>
            <a:off x="9784080" y="3474720"/>
            <a:ext cx="1783080" cy="1234440"/>
          </a:xfrm>
          <a:prstGeom prst="roundRect">
            <a:avLst>
              <a:gd name="adj" fmla="val 8889"/>
            </a:avLst>
          </a:prstGeom>
          <a:solidFill>
            <a:schemeClr val="bg1"/>
          </a:solidFill>
          <a:ln w="12700">
            <a:solidFill>
              <a:schemeClr val="accent6"/>
            </a:solidFill>
            <a:prstDash val="solid"/>
          </a:ln>
          <a:effectLst>
            <a:outerShdw sx="100000" sy="100000" kx="0" ky="0" algn="bl" rotWithShape="0" blurRad="101600" dist="25400" dir="5400000">
              <a:srgbClr val="1A1838">
                <a:alpha val="12000"/>
              </a:srgbClr>
            </a:outerShdw>
          </a:effectLst>
        </p:spPr>
      </p:sp>
      <p:sp>
        <p:nvSpPr>
          <p:cNvPr id="31" name="Text 29"/>
          <p:cNvSpPr txBox="1"/>
          <p:nvPr/>
        </p:nvSpPr>
        <p:spPr>
          <a:xfrm>
            <a:off x="9921240" y="3657600"/>
            <a:ext cx="1554480" cy="502920"/>
          </a:xfrm>
          <a:prstGeom prst="rect">
            <a:avLst/>
          </a:prstGeom>
          <a:noFill/>
          <a:ln/>
        </p:spPr>
        <p:txBody>
          <a:bodyPr wrap="square" lIns="0" tIns="0" rIns="0" bIns="0" rtlCol="0" anchor="t"/>
          <a:lstStyle/>
          <a:p>
            <a:pPr algn="ctr" indent="0" marL="0">
              <a:buNone/>
            </a:pPr>
            <a:r>
              <a:rPr lang="en-US" sz="2400" b="1" dirty="0">
                <a:solidFill>
                  <a:schemeClr val="tx2"/>
                </a:solidFill>
                <a:latin typeface="Arial" pitchFamily="34" charset="0"/>
                <a:ea typeface="Arial" pitchFamily="34" charset="-122"/>
                <a:cs typeface="Arial" pitchFamily="34" charset="-120"/>
              </a:rPr>
              <a:t>75%</a:t>
            </a:r>
            <a:endParaRPr lang="en-US" sz="2400" dirty="0"/>
          </a:p>
        </p:txBody>
      </p:sp>
      <p:sp>
        <p:nvSpPr>
          <p:cNvPr id="32" name="Text 30"/>
          <p:cNvSpPr txBox="1"/>
          <p:nvPr/>
        </p:nvSpPr>
        <p:spPr>
          <a:xfrm>
            <a:off x="9921240" y="4224528"/>
            <a:ext cx="1554480" cy="365760"/>
          </a:xfrm>
          <a:prstGeom prst="rect">
            <a:avLst/>
          </a:prstGeom>
          <a:noFill/>
          <a:ln/>
        </p:spPr>
        <p:txBody>
          <a:bodyPr wrap="square" lIns="0" tIns="0" rIns="0" bIns="0" rtlCol="0" anchor="t"/>
          <a:lstStyle/>
          <a:p>
            <a:pPr algn="ctr" indent="0" marL="0">
              <a:buNone/>
            </a:pPr>
            <a:r>
              <a:rPr lang="en-US" sz="1200" dirty="0">
                <a:solidFill>
                  <a:schemeClr val="accent5"/>
                </a:solidFill>
              </a:rPr>
              <a:t>Gross margin</a:t>
            </a:r>
            <a:endParaRPr lang="en-US" sz="1200" dirty="0"/>
          </a:p>
        </p:txBody>
      </p:sp>
      <p:sp>
        <p:nvSpPr>
          <p:cNvPr id="33" name="Text 31"/>
          <p:cNvSpPr txBox="1"/>
          <p:nvPr/>
        </p:nvSpPr>
        <p:spPr>
          <a:xfrm>
            <a:off x="7863840" y="4983480"/>
            <a:ext cx="3749040" cy="822960"/>
          </a:xfrm>
          <a:prstGeom prst="rect">
            <a:avLst/>
          </a:prstGeom>
          <a:noFill/>
          <a:ln/>
        </p:spPr>
        <p:txBody>
          <a:bodyPr wrap="square" lIns="0" tIns="0" rIns="0" bIns="0" rtlCol="0" anchor="t"/>
          <a:lstStyle/>
          <a:p>
            <a:pPr indent="0" marL="0">
              <a:buNone/>
            </a:pPr>
            <a:r>
              <a:rPr lang="en-US" sz="1200" i="1" dirty="0">
                <a:solidFill>
                  <a:schemeClr val="accent5"/>
                </a:solidFill>
              </a:rPr>
              <a:t>LTV = USD 375 gross profit a month × 25-month life (4% monthly churn) = USD 9,375.</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6012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The product works today, and we run our own company on it</a:t>
            </a:r>
            <a:endParaRPr lang="en-US" sz="3200" dirty="0"/>
          </a:p>
        </p:txBody>
      </p:sp>
      <p:sp>
        <p:nvSpPr>
          <p:cNvPr id="3" name="Traction tile 1"/>
          <p:cNvSpPr/>
          <p:nvPr/>
        </p:nvSpPr>
        <p:spPr>
          <a:xfrm>
            <a:off x="548640" y="1600200"/>
            <a:ext cx="2331720" cy="1280160"/>
          </a:xfrm>
          <a:prstGeom prst="roundRect">
            <a:avLst>
              <a:gd name="adj" fmla="val 8571"/>
            </a:avLst>
          </a:prstGeom>
          <a:solidFill>
            <a:schemeClr val="bg1"/>
          </a:solidFill>
          <a:ln w="12700">
            <a:solidFill>
              <a:schemeClr val="accent6"/>
            </a:solidFill>
            <a:prstDash val="solid"/>
          </a:ln>
          <a:effectLst>
            <a:outerShdw sx="100000" sy="100000" kx="0" ky="0" algn="bl" rotWithShape="0" blurRad="101600" dist="25400" dir="5400000">
              <a:srgbClr val="1A1838">
                <a:alpha val="12000"/>
              </a:srgbClr>
            </a:outerShdw>
          </a:effectLst>
        </p:spPr>
      </p:sp>
      <p:sp>
        <p:nvSpPr>
          <p:cNvPr id="4" name="Text 2"/>
          <p:cNvSpPr txBox="1"/>
          <p:nvPr/>
        </p:nvSpPr>
        <p:spPr>
          <a:xfrm>
            <a:off x="777240" y="1737360"/>
            <a:ext cx="1920240" cy="548640"/>
          </a:xfrm>
          <a:prstGeom prst="rect">
            <a:avLst/>
          </a:prstGeom>
          <a:noFill/>
          <a:ln/>
        </p:spPr>
        <p:txBody>
          <a:bodyPr wrap="square" lIns="0" tIns="0" rIns="0" bIns="0" rtlCol="0" anchor="t"/>
          <a:lstStyle/>
          <a:p>
            <a:pPr indent="0" marL="0">
              <a:buNone/>
            </a:pPr>
            <a:r>
              <a:rPr lang="en-US" sz="3200" b="1" dirty="0">
                <a:solidFill>
                  <a:schemeClr val="accent1"/>
                </a:solidFill>
                <a:latin typeface="Arial" pitchFamily="34" charset="0"/>
                <a:ea typeface="Arial" pitchFamily="34" charset="-122"/>
                <a:cs typeface="Arial" pitchFamily="34" charset="-120"/>
              </a:rPr>
              <a:t>35</a:t>
            </a:r>
            <a:endParaRPr lang="en-US" sz="3200" dirty="0"/>
          </a:p>
        </p:txBody>
      </p:sp>
      <p:sp>
        <p:nvSpPr>
          <p:cNvPr id="5" name="Text 3"/>
          <p:cNvSpPr txBox="1"/>
          <p:nvPr/>
        </p:nvSpPr>
        <p:spPr>
          <a:xfrm>
            <a:off x="777240" y="2313432"/>
            <a:ext cx="1920240" cy="502920"/>
          </a:xfrm>
          <a:prstGeom prst="rect">
            <a:avLst/>
          </a:prstGeom>
          <a:noFill/>
          <a:ln/>
        </p:spPr>
        <p:txBody>
          <a:bodyPr wrap="square" lIns="0" tIns="0" rIns="0" bIns="0" rtlCol="0" anchor="t"/>
          <a:lstStyle/>
          <a:p>
            <a:pPr indent="0" marL="0">
              <a:buNone/>
            </a:pPr>
            <a:r>
              <a:rPr lang="en-US" sz="1300" dirty="0">
                <a:solidFill>
                  <a:schemeClr val="tx2"/>
                </a:solidFill>
              </a:rPr>
              <a:t>working screens across 3 tiers</a:t>
            </a:r>
            <a:endParaRPr lang="en-US" sz="1300" dirty="0"/>
          </a:p>
        </p:txBody>
      </p:sp>
      <p:sp>
        <p:nvSpPr>
          <p:cNvPr id="6" name="Traction tile 2"/>
          <p:cNvSpPr/>
          <p:nvPr/>
        </p:nvSpPr>
        <p:spPr>
          <a:xfrm>
            <a:off x="3063240" y="1600200"/>
            <a:ext cx="2331720" cy="1280160"/>
          </a:xfrm>
          <a:prstGeom prst="roundRect">
            <a:avLst>
              <a:gd name="adj" fmla="val 8571"/>
            </a:avLst>
          </a:prstGeom>
          <a:solidFill>
            <a:schemeClr val="bg1"/>
          </a:solidFill>
          <a:ln w="12700">
            <a:solidFill>
              <a:schemeClr val="accent6"/>
            </a:solidFill>
            <a:prstDash val="solid"/>
          </a:ln>
          <a:effectLst>
            <a:outerShdw sx="100000" sy="100000" kx="0" ky="0" algn="bl" rotWithShape="0" blurRad="101600" dist="25400" dir="5400000">
              <a:srgbClr val="1A1838">
                <a:alpha val="12000"/>
              </a:srgbClr>
            </a:outerShdw>
          </a:effectLst>
        </p:spPr>
      </p:sp>
      <p:sp>
        <p:nvSpPr>
          <p:cNvPr id="7" name="Text 5"/>
          <p:cNvSpPr txBox="1"/>
          <p:nvPr/>
        </p:nvSpPr>
        <p:spPr>
          <a:xfrm>
            <a:off x="3291840" y="1737360"/>
            <a:ext cx="1920240" cy="548640"/>
          </a:xfrm>
          <a:prstGeom prst="rect">
            <a:avLst/>
          </a:prstGeom>
          <a:noFill/>
          <a:ln/>
        </p:spPr>
        <p:txBody>
          <a:bodyPr wrap="square" lIns="0" tIns="0" rIns="0" bIns="0" rtlCol="0" anchor="t"/>
          <a:lstStyle/>
          <a:p>
            <a:pPr indent="0" marL="0">
              <a:buNone/>
            </a:pPr>
            <a:r>
              <a:rPr lang="en-US" sz="3200" b="1" dirty="0">
                <a:solidFill>
                  <a:schemeClr val="accent1"/>
                </a:solidFill>
                <a:latin typeface="Arial" pitchFamily="34" charset="0"/>
                <a:ea typeface="Arial" pitchFamily="34" charset="-122"/>
                <a:cs typeface="Arial" pitchFamily="34" charset="-120"/>
              </a:rPr>
              <a:t>15</a:t>
            </a:r>
            <a:endParaRPr lang="en-US" sz="3200" dirty="0"/>
          </a:p>
        </p:txBody>
      </p:sp>
      <p:sp>
        <p:nvSpPr>
          <p:cNvPr id="8" name="Text 6"/>
          <p:cNvSpPr txBox="1"/>
          <p:nvPr/>
        </p:nvSpPr>
        <p:spPr>
          <a:xfrm>
            <a:off x="3291840" y="2313432"/>
            <a:ext cx="1920240" cy="502920"/>
          </a:xfrm>
          <a:prstGeom prst="rect">
            <a:avLst/>
          </a:prstGeom>
          <a:noFill/>
          <a:ln/>
        </p:spPr>
        <p:txBody>
          <a:bodyPr wrap="square" lIns="0" tIns="0" rIns="0" bIns="0" rtlCol="0" anchor="t"/>
          <a:lstStyle/>
          <a:p>
            <a:pPr indent="0" marL="0">
              <a:buNone/>
            </a:pPr>
            <a:r>
              <a:rPr lang="en-US" sz="1300" dirty="0">
                <a:solidFill>
                  <a:schemeClr val="tx2"/>
                </a:solidFill>
              </a:rPr>
              <a:t>governed pipeline stages, typed end to end</a:t>
            </a:r>
            <a:endParaRPr lang="en-US" sz="1300" dirty="0"/>
          </a:p>
        </p:txBody>
      </p:sp>
      <p:sp>
        <p:nvSpPr>
          <p:cNvPr id="9" name="Traction tile 3"/>
          <p:cNvSpPr/>
          <p:nvPr/>
        </p:nvSpPr>
        <p:spPr>
          <a:xfrm>
            <a:off x="548640" y="3063240"/>
            <a:ext cx="2331720" cy="1280160"/>
          </a:xfrm>
          <a:prstGeom prst="roundRect">
            <a:avLst>
              <a:gd name="adj" fmla="val 8571"/>
            </a:avLst>
          </a:prstGeom>
          <a:solidFill>
            <a:schemeClr val="bg1"/>
          </a:solidFill>
          <a:ln w="12700">
            <a:solidFill>
              <a:schemeClr val="accent6"/>
            </a:solidFill>
            <a:prstDash val="solid"/>
          </a:ln>
          <a:effectLst>
            <a:outerShdw sx="100000" sy="100000" kx="0" ky="0" algn="bl" rotWithShape="0" blurRad="101600" dist="25400" dir="5400000">
              <a:srgbClr val="1A1838">
                <a:alpha val="12000"/>
              </a:srgbClr>
            </a:outerShdw>
          </a:effectLst>
        </p:spPr>
      </p:sp>
      <p:sp>
        <p:nvSpPr>
          <p:cNvPr id="10" name="Text 8"/>
          <p:cNvSpPr txBox="1"/>
          <p:nvPr/>
        </p:nvSpPr>
        <p:spPr>
          <a:xfrm>
            <a:off x="777240" y="3200400"/>
            <a:ext cx="1920240" cy="548640"/>
          </a:xfrm>
          <a:prstGeom prst="rect">
            <a:avLst/>
          </a:prstGeom>
          <a:noFill/>
          <a:ln/>
        </p:spPr>
        <p:txBody>
          <a:bodyPr wrap="square" lIns="0" tIns="0" rIns="0" bIns="0" rtlCol="0" anchor="t"/>
          <a:lstStyle/>
          <a:p>
            <a:pPr indent="0" marL="0">
              <a:buNone/>
            </a:pPr>
            <a:r>
              <a:rPr lang="en-US" sz="3200" b="1" dirty="0">
                <a:solidFill>
                  <a:schemeClr val="accent1"/>
                </a:solidFill>
                <a:latin typeface="Arial" pitchFamily="34" charset="0"/>
                <a:ea typeface="Arial" pitchFamily="34" charset="-122"/>
                <a:cs typeface="Arial" pitchFamily="34" charset="-120"/>
              </a:rPr>
              <a:t>27</a:t>
            </a:r>
            <a:endParaRPr lang="en-US" sz="3200" dirty="0"/>
          </a:p>
        </p:txBody>
      </p:sp>
      <p:sp>
        <p:nvSpPr>
          <p:cNvPr id="11" name="Text 9"/>
          <p:cNvSpPr txBox="1"/>
          <p:nvPr/>
        </p:nvSpPr>
        <p:spPr>
          <a:xfrm>
            <a:off x="777240" y="3776472"/>
            <a:ext cx="1920240" cy="502920"/>
          </a:xfrm>
          <a:prstGeom prst="rect">
            <a:avLst/>
          </a:prstGeom>
          <a:noFill/>
          <a:ln/>
        </p:spPr>
        <p:txBody>
          <a:bodyPr wrap="square" lIns="0" tIns="0" rIns="0" bIns="0" rtlCol="0" anchor="t"/>
          <a:lstStyle/>
          <a:p>
            <a:pPr indent="0" marL="0">
              <a:buNone/>
            </a:pPr>
            <a:r>
              <a:rPr lang="en-US" sz="1300" dirty="0">
                <a:solidFill>
                  <a:schemeClr val="tx2"/>
                </a:solidFill>
              </a:rPr>
              <a:t>guided use cases recorded on the real app</a:t>
            </a:r>
            <a:endParaRPr lang="en-US" sz="1300" dirty="0"/>
          </a:p>
        </p:txBody>
      </p:sp>
      <p:sp>
        <p:nvSpPr>
          <p:cNvPr id="12" name="Traction tile 4"/>
          <p:cNvSpPr/>
          <p:nvPr/>
        </p:nvSpPr>
        <p:spPr>
          <a:xfrm>
            <a:off x="3063240" y="3063240"/>
            <a:ext cx="2331720" cy="1280160"/>
          </a:xfrm>
          <a:prstGeom prst="roundRect">
            <a:avLst>
              <a:gd name="adj" fmla="val 8571"/>
            </a:avLst>
          </a:prstGeom>
          <a:solidFill>
            <a:schemeClr val="bg1"/>
          </a:solidFill>
          <a:ln w="12700">
            <a:solidFill>
              <a:schemeClr val="accent6"/>
            </a:solidFill>
            <a:prstDash val="solid"/>
          </a:ln>
          <a:effectLst>
            <a:outerShdw sx="100000" sy="100000" kx="0" ky="0" algn="bl" rotWithShape="0" blurRad="101600" dist="25400" dir="5400000">
              <a:srgbClr val="1A1838">
                <a:alpha val="12000"/>
              </a:srgbClr>
            </a:outerShdw>
          </a:effectLst>
        </p:spPr>
      </p:sp>
      <p:sp>
        <p:nvSpPr>
          <p:cNvPr id="13" name="Text 11"/>
          <p:cNvSpPr txBox="1"/>
          <p:nvPr/>
        </p:nvSpPr>
        <p:spPr>
          <a:xfrm>
            <a:off x="3291840" y="3200400"/>
            <a:ext cx="1920240" cy="548640"/>
          </a:xfrm>
          <a:prstGeom prst="rect">
            <a:avLst/>
          </a:prstGeom>
          <a:noFill/>
          <a:ln/>
        </p:spPr>
        <p:txBody>
          <a:bodyPr wrap="square" lIns="0" tIns="0" rIns="0" bIns="0" rtlCol="0" anchor="t"/>
          <a:lstStyle/>
          <a:p>
            <a:pPr indent="0" marL="0">
              <a:buNone/>
            </a:pPr>
            <a:r>
              <a:rPr lang="en-US" sz="3200" b="1" dirty="0">
                <a:solidFill>
                  <a:schemeClr val="accent2"/>
                </a:solidFill>
                <a:latin typeface="Arial" pitchFamily="34" charset="0"/>
                <a:ea typeface="Arial" pitchFamily="34" charset="-122"/>
                <a:cs typeface="Arial" pitchFamily="34" charset="-120"/>
              </a:rPr>
              <a:t>#1</a:t>
            </a:r>
            <a:endParaRPr lang="en-US" sz="3200" dirty="0"/>
          </a:p>
        </p:txBody>
      </p:sp>
      <p:sp>
        <p:nvSpPr>
          <p:cNvPr id="14" name="Text 12"/>
          <p:cNvSpPr txBox="1"/>
          <p:nvPr/>
        </p:nvSpPr>
        <p:spPr>
          <a:xfrm>
            <a:off x="3291840" y="3776472"/>
            <a:ext cx="1920240" cy="502920"/>
          </a:xfrm>
          <a:prstGeom prst="rect">
            <a:avLst/>
          </a:prstGeom>
          <a:noFill/>
          <a:ln/>
        </p:spPr>
        <p:txBody>
          <a:bodyPr wrap="square" lIns="0" tIns="0" rIns="0" bIns="0" rtlCol="0" anchor="t"/>
          <a:lstStyle/>
          <a:p>
            <a:pPr indent="0" marL="0">
              <a:buNone/>
            </a:pPr>
            <a:r>
              <a:rPr lang="en-US" sz="1300" dirty="0">
                <a:solidFill>
                  <a:schemeClr val="tx2"/>
                </a:solidFill>
              </a:rPr>
              <a:t>tenant: Finebase Labs runs on it</a:t>
            </a:r>
            <a:endParaRPr lang="en-US" sz="1300" dirty="0"/>
          </a:p>
        </p:txBody>
      </p:sp>
      <p:sp>
        <p:nvSpPr>
          <p:cNvPr id="15" name="Next 90 days"/>
          <p:cNvSpPr/>
          <p:nvPr/>
        </p:nvSpPr>
        <p:spPr>
          <a:xfrm>
            <a:off x="548640" y="4617720"/>
            <a:ext cx="4846320" cy="1417320"/>
          </a:xfrm>
          <a:prstGeom prst="roundRect">
            <a:avLst>
              <a:gd name="adj" fmla="val 7742"/>
            </a:avLst>
          </a:prstGeom>
          <a:solidFill>
            <a:schemeClr val="bg2"/>
          </a:solidFill>
          <a:ln w="12700">
            <a:solidFill>
              <a:schemeClr val="accent6"/>
            </a:solidFill>
            <a:prstDash val="solid"/>
          </a:ln>
          <a:effectLst>
            <a:outerShdw sx="100000" sy="100000" kx="0" ky="0" algn="bl" rotWithShape="0" blurRad="101600" dist="25400" dir="5400000">
              <a:srgbClr val="1A1838">
                <a:alpha val="12000"/>
              </a:srgbClr>
            </a:outerShdw>
          </a:effectLst>
        </p:spPr>
      </p:sp>
      <p:sp>
        <p:nvSpPr>
          <p:cNvPr id="16" name="Text 14"/>
          <p:cNvSpPr txBox="1"/>
          <p:nvPr/>
        </p:nvSpPr>
        <p:spPr>
          <a:xfrm>
            <a:off x="777240" y="4754880"/>
            <a:ext cx="438912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NEXT 90 DAYS</a:t>
            </a:r>
            <a:endParaRPr lang="en-US" sz="1200" dirty="0"/>
          </a:p>
        </p:txBody>
      </p:sp>
      <p:sp>
        <p:nvSpPr>
          <p:cNvPr id="17" name="Text 15"/>
          <p:cNvSpPr txBox="1"/>
          <p:nvPr/>
        </p:nvSpPr>
        <p:spPr>
          <a:xfrm>
            <a:off x="777240" y="5074920"/>
            <a:ext cx="4434840" cy="868680"/>
          </a:xfrm>
          <a:prstGeom prst="rect">
            <a:avLst/>
          </a:prstGeom>
          <a:noFill/>
          <a:ln/>
        </p:spPr>
        <p:txBody>
          <a:bodyPr wrap="square" lIns="0" tIns="0" rIns="0" bIns="0" rtlCol="0" anchor="t"/>
          <a:lstStyle/>
          <a:p>
            <a:pPr indent="0" marL="0">
              <a:spcAft>
                <a:spcPts val="400"/>
              </a:spcAft>
              <a:buNone/>
            </a:pPr>
            <a:r>
              <a:rPr lang="en-US" sz="1400" b="1" dirty="0">
                <a:solidFill>
                  <a:schemeClr val="tx2"/>
                </a:solidFill>
              </a:rPr>
              <a:t>Target by 31 Jan 2027: 5 signed LOIs and 3 paid pilots</a:t>
            </a:r>
            <a:endParaRPr lang="en-US" sz="1400" dirty="0"/>
          </a:p>
          <a:p>
            <a:pPr indent="0" marL="0">
              <a:spcAft>
                <a:spcPts val="400"/>
              </a:spcAft>
              <a:buNone/>
            </a:pPr>
            <a:r>
              <a:rPr lang="en-US" sz="1400" dirty="0">
                <a:solidFill>
                  <a:schemeClr val="tx2"/>
                </a:solidFill>
              </a:rPr>
              <a:t>SME conversations so far: [ __ ]   LOIs signed: [ __ ]</a:t>
            </a:r>
            <a:endParaRPr lang="en-US" sz="1400" dirty="0"/>
          </a:p>
        </p:txBody>
      </p:sp>
      <p:sp>
        <p:nvSpPr>
          <p:cNvPr id="18" name="Fleet screenshot frame"/>
          <p:cNvSpPr/>
          <p:nvPr/>
        </p:nvSpPr>
        <p:spPr>
          <a:xfrm>
            <a:off x="5824728" y="1572768"/>
            <a:ext cx="5861304" cy="3017520"/>
          </a:xfrm>
          <a:prstGeom prst="roundRect">
            <a:avLst>
              <a:gd name="adj" fmla="val 3030"/>
            </a:avLst>
          </a:prstGeom>
          <a:solidFill>
            <a:schemeClr val="bg1"/>
          </a:solidFill>
          <a:ln w="12700">
            <a:solidFill>
              <a:schemeClr val="accent6"/>
            </a:solidFill>
            <a:prstDash val="solid"/>
          </a:ln>
          <a:effectLst>
            <a:outerShdw sx="100000" sy="100000" kx="0" ky="0" algn="bl" rotWithShape="0" blurRad="101600" dist="25400" dir="5400000">
              <a:srgbClr val="1A1838">
                <a:alpha val="12000"/>
              </a:srgbClr>
            </a:outerShdw>
          </a:effectLst>
        </p:spPr>
      </p:sp>
      <p:pic>
        <p:nvPicPr>
          <p:cNvPr id="19" name="Fleet screenshot" descr="preencoded.png">    </p:cNvPr>
          <p:cNvPicPr>
            <a:picLocks noChangeAspect="1"/>
          </p:cNvPicPr>
          <p:nvPr/>
        </p:nvPicPr>
        <p:blipFill>
          <a:blip r:embed="rId1"/>
          <a:stretch>
            <a:fillRect/>
          </a:stretch>
        </p:blipFill>
        <p:spPr>
          <a:xfrm>
            <a:off x="5897880" y="1645920"/>
            <a:ext cx="5715000" cy="2871216"/>
          </a:xfrm>
          <a:prstGeom prst="rect">
            <a:avLst/>
          </a:prstGeom>
        </p:spPr>
      </p:pic>
      <p:sp>
        <p:nvSpPr>
          <p:cNvPr id="20" name="Text 17"/>
          <p:cNvSpPr txBox="1"/>
          <p:nvPr/>
        </p:nvSpPr>
        <p:spPr>
          <a:xfrm>
            <a:off x="5897880" y="4709160"/>
            <a:ext cx="5715000" cy="548640"/>
          </a:xfrm>
          <a:prstGeom prst="rect">
            <a:avLst/>
          </a:prstGeom>
          <a:noFill/>
          <a:ln/>
        </p:spPr>
        <p:txBody>
          <a:bodyPr wrap="square" lIns="0" tIns="0" rIns="0" bIns="0" rtlCol="0" anchor="t"/>
          <a:lstStyle/>
          <a:p>
            <a:pPr indent="0" marL="0">
              <a:buNone/>
            </a:pPr>
            <a:r>
              <a:rPr lang="en-US" sz="1300" i="1" dirty="0">
                <a:solidFill>
                  <a:schemeClr val="accent5"/>
                </a:solidFill>
              </a:rPr>
              <a:t>The live fleet: 15 agents doing care, refunds, billing, sales and scheduling, each with its queue, errors and cost</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6012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Founder-led pilots first, then partners: 0 to 120 customers</a:t>
            </a:r>
            <a:endParaRPr lang="en-US" sz="3200" dirty="0"/>
          </a:p>
        </p:txBody>
      </p:sp>
      <p:sp>
        <p:nvSpPr>
          <p:cNvPr id="3" name="ICP strip"/>
          <p:cNvSpPr/>
          <p:nvPr/>
        </p:nvSpPr>
        <p:spPr>
          <a:xfrm>
            <a:off x="548640" y="1554480"/>
            <a:ext cx="11064240" cy="777240"/>
          </a:xfrm>
          <a:prstGeom prst="roundRect">
            <a:avLst>
              <a:gd name="adj" fmla="val 14118"/>
            </a:avLst>
          </a:prstGeom>
          <a:solidFill>
            <a:schemeClr val="bg2"/>
          </a:solidFill>
          <a:ln w="12700">
            <a:solidFill>
              <a:schemeClr val="accent6"/>
            </a:solidFill>
            <a:prstDash val="solid"/>
          </a:ln>
          <a:effectLst>
            <a:outerShdw sx="100000" sy="100000" kx="0" ky="0" algn="bl" rotWithShape="0" blurRad="101600" dist="25400" dir="5400000">
              <a:srgbClr val="1A1838">
                <a:alpha val="12000"/>
              </a:srgbClr>
            </a:outerShdw>
          </a:effectLst>
        </p:spPr>
      </p:sp>
      <p:sp>
        <p:nvSpPr>
          <p:cNvPr id="4" name="ICP circle"/>
          <p:cNvSpPr/>
          <p:nvPr/>
        </p:nvSpPr>
        <p:spPr>
          <a:xfrm>
            <a:off x="777240" y="1673352"/>
            <a:ext cx="548640" cy="548640"/>
          </a:xfrm>
          <a:prstGeom prst="ellipse">
            <a:avLst/>
          </a:prstGeom>
          <a:solidFill>
            <a:schemeClr val="accent1"/>
          </a:solidFill>
          <a:ln/>
        </p:spPr>
      </p:sp>
      <p:pic>
        <p:nvPicPr>
          <p:cNvPr id="5" name="ICP icon" descr="preencoded.png">    </p:cNvPr>
          <p:cNvPicPr>
            <a:picLocks noChangeAspect="1"/>
          </p:cNvPicPr>
          <p:nvPr/>
        </p:nvPicPr>
        <p:blipFill>
          <a:blip r:embed="rId1"/>
          <a:stretch>
            <a:fillRect/>
          </a:stretch>
        </p:blipFill>
        <p:spPr>
          <a:xfrm>
            <a:off x="908914" y="1805026"/>
            <a:ext cx="285293" cy="285293"/>
          </a:xfrm>
          <a:prstGeom prst="rect">
            <a:avLst/>
          </a:prstGeom>
        </p:spPr>
      </p:pic>
      <p:sp>
        <p:nvSpPr>
          <p:cNvPr id="6" name="Text 3"/>
          <p:cNvSpPr txBox="1"/>
          <p:nvPr/>
        </p:nvSpPr>
        <p:spPr>
          <a:xfrm>
            <a:off x="1508760" y="1737360"/>
            <a:ext cx="9875520" cy="457200"/>
          </a:xfrm>
          <a:prstGeom prst="rect">
            <a:avLst/>
          </a:prstGeom>
          <a:noFill/>
          <a:ln/>
        </p:spPr>
        <p:txBody>
          <a:bodyPr wrap="square" lIns="0" tIns="0" rIns="0" bIns="0" rtlCol="0" anchor="ctr"/>
          <a:lstStyle/>
          <a:p>
            <a:pPr indent="0" marL="0">
              <a:buNone/>
            </a:pPr>
            <a:r>
              <a:rPr lang="en-US" sz="1500" b="1" dirty="0">
                <a:solidFill>
                  <a:schemeClr val="accent1"/>
                </a:solidFill>
              </a:rPr>
              <a:t>Ideal customer:  </a:t>
            </a:r>
            <a:pPr indent="0" marL="0">
              <a:buNone/>
            </a:pPr>
            <a:r>
              <a:rPr lang="en-US" sz="1500" dirty="0">
                <a:solidFill>
                  <a:schemeClr val="tx2"/>
                </a:solidFill>
              </a:rPr>
              <a:t>Sri Lankan service SMEs with 20 to 200 staff, a busy support inbox and online payments. The buyer is the founder or COO.</a:t>
            </a:r>
            <a:endParaRPr lang="en-US" sz="1500" dirty="0"/>
          </a:p>
        </p:txBody>
      </p:sp>
      <p:sp>
        <p:nvSpPr>
          <p:cNvPr id="7" name="Phase 1"/>
          <p:cNvSpPr/>
          <p:nvPr/>
        </p:nvSpPr>
        <p:spPr>
          <a:xfrm>
            <a:off x="548640" y="2606040"/>
            <a:ext cx="3474720" cy="2788920"/>
          </a:xfrm>
          <a:prstGeom prst="roundRect">
            <a:avLst>
              <a:gd name="adj" fmla="val 3934"/>
            </a:avLst>
          </a:prstGeom>
          <a:solidFill>
            <a:schemeClr val="bg1"/>
          </a:solidFill>
          <a:ln w="12700">
            <a:solidFill>
              <a:schemeClr val="accent6"/>
            </a:solidFill>
            <a:prstDash val="solid"/>
          </a:ln>
          <a:effectLst>
            <a:outerShdw sx="100000" sy="100000" kx="0" ky="0" algn="bl" rotWithShape="0" blurRad="101600" dist="25400" dir="5400000">
              <a:srgbClr val="1A1838">
                <a:alpha val="12000"/>
              </a:srgbClr>
            </a:outerShdw>
          </a:effectLst>
        </p:spPr>
      </p:sp>
      <p:sp>
        <p:nvSpPr>
          <p:cNvPr id="8" name="Text 5"/>
          <p:cNvSpPr txBox="1"/>
          <p:nvPr/>
        </p:nvSpPr>
        <p:spPr>
          <a:xfrm>
            <a:off x="822960" y="2743200"/>
            <a:ext cx="2926080" cy="50292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0 → 20</a:t>
            </a:r>
            <a:endParaRPr lang="en-US" sz="2600" dirty="0"/>
          </a:p>
        </p:txBody>
      </p:sp>
      <p:sp>
        <p:nvSpPr>
          <p:cNvPr id="9" name="Text 6"/>
          <p:cNvSpPr txBox="1"/>
          <p:nvPr/>
        </p:nvSpPr>
        <p:spPr>
          <a:xfrm>
            <a:off x="822960" y="3246120"/>
            <a:ext cx="2926080" cy="320040"/>
          </a:xfrm>
          <a:prstGeom prst="rect">
            <a:avLst/>
          </a:prstGeom>
          <a:noFill/>
          <a:ln/>
        </p:spPr>
        <p:txBody>
          <a:bodyPr wrap="square" lIns="0" tIns="0" rIns="0" bIns="0" rtlCol="0" anchor="t"/>
          <a:lstStyle/>
          <a:p>
            <a:pPr indent="0" marL="0">
              <a:buNone/>
            </a:pPr>
            <a:r>
              <a:rPr lang="en-US" sz="1400" b="1" dirty="0">
                <a:solidFill>
                  <a:schemeClr val="tx2"/>
                </a:solidFill>
              </a:rPr>
              <a:t>Year 1  ·  Founder-led</a:t>
            </a:r>
            <a:endParaRPr lang="en-US" sz="1400" dirty="0"/>
          </a:p>
        </p:txBody>
      </p:sp>
      <p:sp>
        <p:nvSpPr>
          <p:cNvPr id="10" name="Text 7"/>
          <p:cNvSpPr txBox="1"/>
          <p:nvPr/>
        </p:nvSpPr>
        <p:spPr>
          <a:xfrm>
            <a:off x="822960" y="3611880"/>
            <a:ext cx="2926080" cy="1280160"/>
          </a:xfrm>
          <a:prstGeom prst="rect">
            <a:avLst/>
          </a:prstGeom>
          <a:noFill/>
          <a:ln/>
        </p:spPr>
        <p:txBody>
          <a:bodyPr wrap="square" lIns="0" tIns="0" rIns="0" bIns="0" rtlCol="0" anchor="t"/>
          <a:lstStyle/>
          <a:p>
            <a:pPr indent="0" marL="0">
              <a:spcAft>
                <a:spcPts val="600"/>
              </a:spcAft>
              <a:buNone/>
            </a:pPr>
            <a:r>
              <a:rPr lang="en-US" sz="1300" dirty="0">
                <a:solidFill>
                  <a:schemeClr val="tx1"/>
                </a:solidFill>
              </a:rPr>
              <a:t>We call and visit 300 SMEs from our network and SLASSCOM members.</a:t>
            </a:r>
            <a:endParaRPr lang="en-US" sz="1300" dirty="0"/>
          </a:p>
          <a:p>
            <a:pPr indent="0" marL="0">
              <a:spcAft>
                <a:spcPts val="600"/>
              </a:spcAft>
              <a:buNone/>
            </a:pPr>
            <a:r>
              <a:rPr lang="en-US" sz="1300" dirty="0">
                <a:solidFill>
                  <a:schemeClr val="tx1"/>
                </a:solidFill>
              </a:rPr>
              <a:t>Free one-month pilot on one loop, then a monthly plan.</a:t>
            </a:r>
            <a:endParaRPr lang="en-US" sz="1300" dirty="0"/>
          </a:p>
        </p:txBody>
      </p:sp>
      <p:sp>
        <p:nvSpPr>
          <p:cNvPr id="11" name="Text 8"/>
          <p:cNvSpPr txBox="1"/>
          <p:nvPr/>
        </p:nvSpPr>
        <p:spPr>
          <a:xfrm>
            <a:off x="822960" y="4983480"/>
            <a:ext cx="2926080" cy="274320"/>
          </a:xfrm>
          <a:prstGeom prst="rect">
            <a:avLst/>
          </a:prstGeom>
          <a:noFill/>
          <a:ln/>
        </p:spPr>
        <p:txBody>
          <a:bodyPr wrap="square" lIns="0" tIns="0" rIns="0" bIns="0" rtlCol="0" anchor="t"/>
          <a:lstStyle/>
          <a:p>
            <a:pPr indent="0" marL="0">
              <a:buNone/>
            </a:pPr>
            <a:r>
              <a:rPr lang="en-US" sz="1200" b="1" dirty="0">
                <a:solidFill>
                  <a:schemeClr val="accent2"/>
                </a:solidFill>
              </a:rPr>
              <a:t>Pilot costs us ~USD 900</a:t>
            </a:r>
            <a:endParaRPr lang="en-US" sz="1200" dirty="0"/>
          </a:p>
        </p:txBody>
      </p:sp>
      <p:sp>
        <p:nvSpPr>
          <p:cNvPr id="12" name="Phase 2"/>
          <p:cNvSpPr/>
          <p:nvPr/>
        </p:nvSpPr>
        <p:spPr>
          <a:xfrm>
            <a:off x="4297680" y="2606040"/>
            <a:ext cx="3474720" cy="2788920"/>
          </a:xfrm>
          <a:prstGeom prst="roundRect">
            <a:avLst>
              <a:gd name="adj" fmla="val 3934"/>
            </a:avLst>
          </a:prstGeom>
          <a:solidFill>
            <a:schemeClr val="bg1"/>
          </a:solidFill>
          <a:ln w="12700">
            <a:solidFill>
              <a:schemeClr val="accent6"/>
            </a:solidFill>
            <a:prstDash val="solid"/>
          </a:ln>
          <a:effectLst>
            <a:outerShdw sx="100000" sy="100000" kx="0" ky="0" algn="bl" rotWithShape="0" blurRad="101600" dist="25400" dir="5400000">
              <a:srgbClr val="1A1838">
                <a:alpha val="12000"/>
              </a:srgbClr>
            </a:outerShdw>
          </a:effectLst>
        </p:spPr>
      </p:sp>
      <p:sp>
        <p:nvSpPr>
          <p:cNvPr id="13" name="Text 10"/>
          <p:cNvSpPr txBox="1"/>
          <p:nvPr/>
        </p:nvSpPr>
        <p:spPr>
          <a:xfrm>
            <a:off x="4572000" y="2743200"/>
            <a:ext cx="2926080" cy="50292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20 → 50</a:t>
            </a:r>
            <a:endParaRPr lang="en-US" sz="2600" dirty="0"/>
          </a:p>
        </p:txBody>
      </p:sp>
      <p:sp>
        <p:nvSpPr>
          <p:cNvPr id="14" name="Text 11"/>
          <p:cNvSpPr txBox="1"/>
          <p:nvPr/>
        </p:nvSpPr>
        <p:spPr>
          <a:xfrm>
            <a:off x="4572000" y="3246120"/>
            <a:ext cx="2926080" cy="320040"/>
          </a:xfrm>
          <a:prstGeom prst="rect">
            <a:avLst/>
          </a:prstGeom>
          <a:noFill/>
          <a:ln/>
        </p:spPr>
        <p:txBody>
          <a:bodyPr wrap="square" lIns="0" tIns="0" rIns="0" bIns="0" rtlCol="0" anchor="t"/>
          <a:lstStyle/>
          <a:p>
            <a:pPr indent="0" marL="0">
              <a:buNone/>
            </a:pPr>
            <a:r>
              <a:rPr lang="en-US" sz="1400" b="1" dirty="0">
                <a:solidFill>
                  <a:schemeClr val="tx2"/>
                </a:solidFill>
              </a:rPr>
              <a:t>Year 2  ·  Partners</a:t>
            </a:r>
            <a:endParaRPr lang="en-US" sz="1400" dirty="0"/>
          </a:p>
        </p:txBody>
      </p:sp>
      <p:sp>
        <p:nvSpPr>
          <p:cNvPr id="15" name="Text 12"/>
          <p:cNvSpPr txBox="1"/>
          <p:nvPr/>
        </p:nvSpPr>
        <p:spPr>
          <a:xfrm>
            <a:off x="4572000" y="3611880"/>
            <a:ext cx="2926080" cy="1280160"/>
          </a:xfrm>
          <a:prstGeom prst="rect">
            <a:avLst/>
          </a:prstGeom>
          <a:noFill/>
          <a:ln/>
        </p:spPr>
        <p:txBody>
          <a:bodyPr wrap="square" lIns="0" tIns="0" rIns="0" bIns="0" rtlCol="0" anchor="t"/>
          <a:lstStyle/>
          <a:p>
            <a:pPr indent="0" marL="0">
              <a:spcAft>
                <a:spcPts val="600"/>
              </a:spcAft>
              <a:buNone/>
            </a:pPr>
            <a:r>
              <a:rPr lang="en-US" sz="1300" dirty="0">
                <a:solidFill>
                  <a:schemeClr val="tx1"/>
                </a:solidFill>
              </a:rPr>
              <a:t>Accounting and audit firms resell us as their PDPA answer. Workshops with chambers of commerce.</a:t>
            </a:r>
            <a:endParaRPr lang="en-US" sz="1300" dirty="0"/>
          </a:p>
          <a:p>
            <a:pPr indent="0" marL="0">
              <a:spcAft>
                <a:spcPts val="600"/>
              </a:spcAft>
              <a:buNone/>
            </a:pPr>
            <a:r>
              <a:rPr lang="en-US" sz="1300" dirty="0">
                <a:solidFill>
                  <a:schemeClr val="tx1"/>
                </a:solidFill>
              </a:rPr>
              <a:t>Partner referral, 2-week pilot.</a:t>
            </a:r>
            <a:endParaRPr lang="en-US" sz="1300" dirty="0"/>
          </a:p>
        </p:txBody>
      </p:sp>
      <p:sp>
        <p:nvSpPr>
          <p:cNvPr id="16" name="Text 13"/>
          <p:cNvSpPr txBox="1"/>
          <p:nvPr/>
        </p:nvSpPr>
        <p:spPr>
          <a:xfrm>
            <a:off x="4572000" y="4983480"/>
            <a:ext cx="2926080" cy="274320"/>
          </a:xfrm>
          <a:prstGeom prst="rect">
            <a:avLst/>
          </a:prstGeom>
          <a:noFill/>
          <a:ln/>
        </p:spPr>
        <p:txBody>
          <a:bodyPr wrap="square" lIns="0" tIns="0" rIns="0" bIns="0" rtlCol="0" anchor="t"/>
          <a:lstStyle/>
          <a:p>
            <a:pPr indent="0" marL="0">
              <a:buNone/>
            </a:pPr>
            <a:r>
              <a:rPr lang="en-US" sz="1200" b="1" dirty="0">
                <a:solidFill>
                  <a:schemeClr val="accent2"/>
                </a:solidFill>
              </a:rPr>
              <a:t>Partner fee 20% of year one</a:t>
            </a:r>
            <a:endParaRPr lang="en-US" sz="1200" dirty="0"/>
          </a:p>
        </p:txBody>
      </p:sp>
      <p:sp>
        <p:nvSpPr>
          <p:cNvPr id="17" name="Phase 3"/>
          <p:cNvSpPr/>
          <p:nvPr/>
        </p:nvSpPr>
        <p:spPr>
          <a:xfrm>
            <a:off x="8046720" y="2606040"/>
            <a:ext cx="3474720" cy="2788920"/>
          </a:xfrm>
          <a:prstGeom prst="roundRect">
            <a:avLst>
              <a:gd name="adj" fmla="val 3934"/>
            </a:avLst>
          </a:prstGeom>
          <a:solidFill>
            <a:schemeClr val="bg1"/>
          </a:solidFill>
          <a:ln w="12700">
            <a:solidFill>
              <a:schemeClr val="accent6"/>
            </a:solidFill>
            <a:prstDash val="solid"/>
          </a:ln>
          <a:effectLst>
            <a:outerShdw sx="100000" sy="100000" kx="0" ky="0" algn="bl" rotWithShape="0" blurRad="101600" dist="25400" dir="5400000">
              <a:srgbClr val="1A1838">
                <a:alpha val="12000"/>
              </a:srgbClr>
            </a:outerShdw>
          </a:effectLst>
        </p:spPr>
      </p:sp>
      <p:sp>
        <p:nvSpPr>
          <p:cNvPr id="18" name="Text 15"/>
          <p:cNvSpPr txBox="1"/>
          <p:nvPr/>
        </p:nvSpPr>
        <p:spPr>
          <a:xfrm>
            <a:off x="8321040" y="2743200"/>
            <a:ext cx="2926080" cy="50292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50 → 120</a:t>
            </a:r>
            <a:endParaRPr lang="en-US" sz="2600" dirty="0"/>
          </a:p>
        </p:txBody>
      </p:sp>
      <p:sp>
        <p:nvSpPr>
          <p:cNvPr id="19" name="Text 16"/>
          <p:cNvSpPr txBox="1"/>
          <p:nvPr/>
        </p:nvSpPr>
        <p:spPr>
          <a:xfrm>
            <a:off x="8321040" y="3246120"/>
            <a:ext cx="2926080" cy="320040"/>
          </a:xfrm>
          <a:prstGeom prst="rect">
            <a:avLst/>
          </a:prstGeom>
          <a:noFill/>
          <a:ln/>
        </p:spPr>
        <p:txBody>
          <a:bodyPr wrap="square" lIns="0" tIns="0" rIns="0" bIns="0" rtlCol="0" anchor="t"/>
          <a:lstStyle/>
          <a:p>
            <a:pPr indent="0" marL="0">
              <a:buNone/>
            </a:pPr>
            <a:r>
              <a:rPr lang="en-US" sz="1400" b="1" dirty="0">
                <a:solidFill>
                  <a:schemeClr val="tx2"/>
                </a:solidFill>
              </a:rPr>
              <a:t>Year 3  ·  First sales team</a:t>
            </a:r>
            <a:endParaRPr lang="en-US" sz="1400" dirty="0"/>
          </a:p>
        </p:txBody>
      </p:sp>
      <p:sp>
        <p:nvSpPr>
          <p:cNvPr id="20" name="Text 17"/>
          <p:cNvSpPr txBox="1"/>
          <p:nvPr/>
        </p:nvSpPr>
        <p:spPr>
          <a:xfrm>
            <a:off x="8321040" y="3611880"/>
            <a:ext cx="2926080" cy="1280160"/>
          </a:xfrm>
          <a:prstGeom prst="rect">
            <a:avLst/>
          </a:prstGeom>
          <a:noFill/>
          <a:ln/>
        </p:spPr>
        <p:txBody>
          <a:bodyPr wrap="square" lIns="0" tIns="0" rIns="0" bIns="0" rtlCol="0" anchor="t"/>
          <a:lstStyle/>
          <a:p>
            <a:pPr indent="0" marL="0">
              <a:spcAft>
                <a:spcPts val="600"/>
              </a:spcAft>
              <a:buNone/>
            </a:pPr>
            <a:r>
              <a:rPr lang="en-US" sz="1300" dirty="0">
                <a:solidFill>
                  <a:schemeClr val="tx1"/>
                </a:solidFill>
              </a:rPr>
              <a:t>Two sales hires in Colombo. First pilots in the Maldives and Bangladesh.</a:t>
            </a:r>
            <a:endParaRPr lang="en-US" sz="1300" dirty="0"/>
          </a:p>
          <a:p>
            <a:pPr indent="0" marL="0">
              <a:spcAft>
                <a:spcPts val="600"/>
              </a:spcAft>
              <a:buNone/>
            </a:pPr>
            <a:r>
              <a:rPr lang="en-US" sz="1300" dirty="0">
                <a:solidFill>
                  <a:schemeClr val="tx1"/>
                </a:solidFill>
              </a:rPr>
              <a:t>Demo, pilot, annual deal.</a:t>
            </a:r>
            <a:endParaRPr lang="en-US" sz="1300" dirty="0"/>
          </a:p>
        </p:txBody>
      </p:sp>
      <p:sp>
        <p:nvSpPr>
          <p:cNvPr id="21" name="Text 18"/>
          <p:cNvSpPr txBox="1"/>
          <p:nvPr/>
        </p:nvSpPr>
        <p:spPr>
          <a:xfrm>
            <a:off x="8321040" y="4983480"/>
            <a:ext cx="2926080" cy="274320"/>
          </a:xfrm>
          <a:prstGeom prst="rect">
            <a:avLst/>
          </a:prstGeom>
          <a:noFill/>
          <a:ln/>
        </p:spPr>
        <p:txBody>
          <a:bodyPr wrap="square" lIns="0" tIns="0" rIns="0" bIns="0" rtlCol="0" anchor="t"/>
          <a:lstStyle/>
          <a:p>
            <a:pPr indent="0" marL="0">
              <a:buNone/>
            </a:pPr>
            <a:r>
              <a:rPr lang="en-US" sz="1200" b="1" dirty="0">
                <a:solidFill>
                  <a:schemeClr val="accent2"/>
                </a:solidFill>
              </a:rPr>
              <a:t>Target CAC stays ≤ USD 1,800</a:t>
            </a:r>
            <a:endParaRPr lang="en-US" sz="1200" dirty="0"/>
          </a:p>
        </p:txBody>
      </p:sp>
      <p:sp>
        <p:nvSpPr>
          <p:cNvPr id="22" name="Text 19"/>
          <p:cNvSpPr txBox="1"/>
          <p:nvPr/>
        </p:nvSpPr>
        <p:spPr>
          <a:xfrm>
            <a:off x="548640" y="5623560"/>
            <a:ext cx="11064240" cy="365760"/>
          </a:xfrm>
          <a:prstGeom prst="rect">
            <a:avLst/>
          </a:prstGeom>
          <a:noFill/>
          <a:ln/>
        </p:spPr>
        <p:txBody>
          <a:bodyPr wrap="square" lIns="0" tIns="0" rIns="0" bIns="0" rtlCol="0" anchor="t"/>
          <a:lstStyle/>
          <a:p>
            <a:pPr indent="0" marL="0">
              <a:buNone/>
            </a:pPr>
            <a:r>
              <a:rPr lang="en-US" sz="1500" b="1" dirty="0">
                <a:solidFill>
                  <a:schemeClr val="tx2"/>
                </a:solidFill>
              </a:rPr>
              <a:t>Year 1 funnel:  </a:t>
            </a:r>
            <a:pPr indent="0" marL="0">
              <a:buNone/>
            </a:pPr>
            <a:r>
              <a:rPr lang="en-US" sz="1500" dirty="0">
                <a:solidFill>
                  <a:schemeClr val="tx2"/>
                </a:solidFill>
              </a:rPr>
              <a:t>300 contacted  →  80 demos  →  40 pilots  →  20 paying (50% pilot conversion)</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6012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Others either act or govern. We do both, at an SME price</a:t>
            </a:r>
            <a:endParaRPr lang="en-US" sz="3200" dirty="0"/>
          </a:p>
        </p:txBody>
      </p:sp>
      <p:sp>
        <p:nvSpPr>
          <p:cNvPr id="3" name="Quadrant field"/>
          <p:cNvSpPr/>
          <p:nvPr/>
        </p:nvSpPr>
        <p:spPr>
          <a:xfrm>
            <a:off x="822960" y="1645920"/>
            <a:ext cx="5852160" cy="4206240"/>
          </a:xfrm>
          <a:prstGeom prst="rect">
            <a:avLst/>
          </a:prstGeom>
          <a:solidFill>
            <a:schemeClr val="bg2"/>
          </a:solidFill>
          <a:ln/>
        </p:spPr>
      </p:sp>
      <p:sp>
        <p:nvSpPr>
          <p:cNvPr id="4" name="Quadrant h"/>
          <p:cNvSpPr/>
          <p:nvPr/>
        </p:nvSpPr>
        <p:spPr>
          <a:xfrm>
            <a:off x="822960" y="3749040"/>
            <a:ext cx="5852160" cy="0"/>
          </a:xfrm>
          <a:prstGeom prst="line">
            <a:avLst/>
          </a:prstGeom>
          <a:noFill/>
          <a:ln w="15875">
            <a:solidFill>
              <a:schemeClr val="accent6"/>
            </a:solidFill>
            <a:prstDash val="solid"/>
          </a:ln>
        </p:spPr>
      </p:sp>
      <p:sp>
        <p:nvSpPr>
          <p:cNvPr id="5" name="Quadrant v"/>
          <p:cNvSpPr/>
          <p:nvPr/>
        </p:nvSpPr>
        <p:spPr>
          <a:xfrm>
            <a:off x="3749040" y="1645920"/>
            <a:ext cx="0" cy="4206240"/>
          </a:xfrm>
          <a:prstGeom prst="line">
            <a:avLst/>
          </a:prstGeom>
          <a:noFill/>
          <a:ln w="15875">
            <a:solidFill>
              <a:schemeClr val="accent6"/>
            </a:solidFill>
            <a:prstDash val="solid"/>
          </a:ln>
        </p:spPr>
      </p:sp>
      <p:sp>
        <p:nvSpPr>
          <p:cNvPr id="6" name="Text 4"/>
          <p:cNvSpPr txBox="1"/>
          <p:nvPr/>
        </p:nvSpPr>
        <p:spPr>
          <a:xfrm>
            <a:off x="822960" y="5961888"/>
            <a:ext cx="5852160" cy="274320"/>
          </a:xfrm>
          <a:prstGeom prst="rect">
            <a:avLst/>
          </a:prstGeom>
          <a:noFill/>
          <a:ln/>
        </p:spPr>
        <p:txBody>
          <a:bodyPr wrap="square" lIns="0" tIns="0" rIns="0" bIns="0" rtlCol="0" anchor="t"/>
          <a:lstStyle/>
          <a:p>
            <a:pPr algn="ctr" indent="0" marL="0">
              <a:buNone/>
            </a:pPr>
            <a:r>
              <a:rPr lang="en-US" sz="1200" b="1" dirty="0">
                <a:solidFill>
                  <a:schemeClr val="accent5"/>
                </a:solidFill>
              </a:rPr>
              <a:t>Does the work across operations  →</a:t>
            </a:r>
            <a:endParaRPr lang="en-US" sz="1200" dirty="0"/>
          </a:p>
        </p:txBody>
      </p:sp>
      <p:sp>
        <p:nvSpPr>
          <p:cNvPr id="7" name="Text 5"/>
          <p:cNvSpPr txBox="1"/>
          <p:nvPr/>
        </p:nvSpPr>
        <p:spPr>
          <a:xfrm rot="16200000">
            <a:off x="-1554480" y="3611880"/>
            <a:ext cx="4206240" cy="274320"/>
          </a:xfrm>
          <a:prstGeom prst="rect">
            <a:avLst/>
          </a:prstGeom>
          <a:noFill/>
          <a:ln/>
        </p:spPr>
        <p:txBody>
          <a:bodyPr wrap="square" lIns="0" tIns="0" rIns="0" bIns="0" rtlCol="0" anchor="ctr"/>
          <a:lstStyle/>
          <a:p>
            <a:pPr algn="ctr" indent="0" marL="0">
              <a:buNone/>
            </a:pPr>
            <a:r>
              <a:rPr lang="en-US" sz="1200" b="1" dirty="0">
                <a:solidFill>
                  <a:schemeClr val="accent5"/>
                </a:solidFill>
              </a:rPr>
              <a:t>Governed and auditable  →</a:t>
            </a:r>
            <a:endParaRPr lang="en-US" sz="1200" dirty="0"/>
          </a:p>
        </p:txBody>
      </p:sp>
      <p:sp>
        <p:nvSpPr>
          <p:cNvPr id="8" name="Dot Staff and spreadsheets"/>
          <p:cNvSpPr/>
          <p:nvPr/>
        </p:nvSpPr>
        <p:spPr>
          <a:xfrm>
            <a:off x="2360981" y="4826203"/>
            <a:ext cx="201168" cy="201168"/>
          </a:xfrm>
          <a:prstGeom prst="ellipse">
            <a:avLst/>
          </a:prstGeom>
          <a:solidFill>
            <a:schemeClr val="accent5"/>
          </a:solidFill>
          <a:ln/>
        </p:spPr>
      </p:sp>
      <p:sp>
        <p:nvSpPr>
          <p:cNvPr id="9" name="Text 7"/>
          <p:cNvSpPr txBox="1"/>
          <p:nvPr/>
        </p:nvSpPr>
        <p:spPr>
          <a:xfrm>
            <a:off x="2635301" y="4771339"/>
            <a:ext cx="1920240" cy="457200"/>
          </a:xfrm>
          <a:prstGeom prst="rect">
            <a:avLst/>
          </a:prstGeom>
          <a:noFill/>
          <a:ln/>
        </p:spPr>
        <p:txBody>
          <a:bodyPr wrap="square" lIns="0" tIns="0" rIns="0" bIns="0" rtlCol="0" anchor="t"/>
          <a:lstStyle/>
          <a:p>
            <a:pPr algn="l" indent="0" marL="0">
              <a:buNone/>
            </a:pPr>
            <a:r>
              <a:rPr lang="en-US" sz="1200" dirty="0">
                <a:solidFill>
                  <a:schemeClr val="tx1"/>
                </a:solidFill>
              </a:rPr>
              <a:t>Staff and spreadsheets</a:t>
            </a:r>
            <a:endParaRPr lang="en-US" sz="1200" dirty="0"/>
          </a:p>
        </p:txBody>
      </p:sp>
      <p:sp>
        <p:nvSpPr>
          <p:cNvPr id="10" name="Dot Zapier, Make"/>
          <p:cNvSpPr/>
          <p:nvPr/>
        </p:nvSpPr>
        <p:spPr>
          <a:xfrm>
            <a:off x="4350715" y="5120640"/>
            <a:ext cx="201168" cy="201168"/>
          </a:xfrm>
          <a:prstGeom prst="ellipse">
            <a:avLst/>
          </a:prstGeom>
          <a:solidFill>
            <a:schemeClr val="accent5"/>
          </a:solidFill>
          <a:ln/>
        </p:spPr>
      </p:sp>
      <p:sp>
        <p:nvSpPr>
          <p:cNvPr id="11" name="Text 9"/>
          <p:cNvSpPr txBox="1"/>
          <p:nvPr/>
        </p:nvSpPr>
        <p:spPr>
          <a:xfrm>
            <a:off x="4625035" y="5065776"/>
            <a:ext cx="1920240" cy="457200"/>
          </a:xfrm>
          <a:prstGeom prst="rect">
            <a:avLst/>
          </a:prstGeom>
          <a:noFill/>
          <a:ln/>
        </p:spPr>
        <p:txBody>
          <a:bodyPr wrap="square" lIns="0" tIns="0" rIns="0" bIns="0" rtlCol="0" anchor="t"/>
          <a:lstStyle/>
          <a:p>
            <a:pPr algn="l" indent="0" marL="0">
              <a:buNone/>
            </a:pPr>
            <a:r>
              <a:rPr lang="en-US" sz="1200" dirty="0">
                <a:solidFill>
                  <a:schemeClr val="tx1"/>
                </a:solidFill>
              </a:rPr>
              <a:t>Zapier, Make</a:t>
            </a:r>
            <a:endParaRPr lang="en-US" sz="1200" dirty="0"/>
          </a:p>
        </p:txBody>
      </p:sp>
      <p:sp>
        <p:nvSpPr>
          <p:cNvPr id="12" name="Dot Glean, Notion AI"/>
          <p:cNvSpPr/>
          <p:nvPr/>
        </p:nvSpPr>
        <p:spPr>
          <a:xfrm>
            <a:off x="1541678" y="3311957"/>
            <a:ext cx="201168" cy="201168"/>
          </a:xfrm>
          <a:prstGeom prst="ellipse">
            <a:avLst/>
          </a:prstGeom>
          <a:solidFill>
            <a:schemeClr val="accent5"/>
          </a:solidFill>
          <a:ln/>
        </p:spPr>
      </p:sp>
      <p:sp>
        <p:nvSpPr>
          <p:cNvPr id="13" name="Text 11"/>
          <p:cNvSpPr txBox="1"/>
          <p:nvPr/>
        </p:nvSpPr>
        <p:spPr>
          <a:xfrm>
            <a:off x="1815998" y="3257093"/>
            <a:ext cx="1920240" cy="457200"/>
          </a:xfrm>
          <a:prstGeom prst="rect">
            <a:avLst/>
          </a:prstGeom>
          <a:noFill/>
          <a:ln/>
        </p:spPr>
        <p:txBody>
          <a:bodyPr wrap="square" lIns="0" tIns="0" rIns="0" bIns="0" rtlCol="0" anchor="t"/>
          <a:lstStyle/>
          <a:p>
            <a:pPr algn="l" indent="0" marL="0">
              <a:buNone/>
            </a:pPr>
            <a:r>
              <a:rPr lang="en-US" sz="1200" dirty="0">
                <a:solidFill>
                  <a:schemeClr val="tx1"/>
                </a:solidFill>
              </a:rPr>
              <a:t>Glean, Notion AI</a:t>
            </a:r>
            <a:endParaRPr lang="en-US" sz="1200" dirty="0"/>
          </a:p>
        </p:txBody>
      </p:sp>
      <p:sp>
        <p:nvSpPr>
          <p:cNvPr id="14" name="Dot Intercom Fin, Zendesk AI"/>
          <p:cNvSpPr/>
          <p:nvPr/>
        </p:nvSpPr>
        <p:spPr>
          <a:xfrm>
            <a:off x="3355848" y="3858768"/>
            <a:ext cx="201168" cy="201168"/>
          </a:xfrm>
          <a:prstGeom prst="ellipse">
            <a:avLst/>
          </a:prstGeom>
          <a:solidFill>
            <a:schemeClr val="accent5"/>
          </a:solidFill>
          <a:ln/>
        </p:spPr>
      </p:sp>
      <p:sp>
        <p:nvSpPr>
          <p:cNvPr id="15" name="Text 13"/>
          <p:cNvSpPr txBox="1"/>
          <p:nvPr/>
        </p:nvSpPr>
        <p:spPr>
          <a:xfrm>
            <a:off x="3630168" y="3803904"/>
            <a:ext cx="1920240" cy="457200"/>
          </a:xfrm>
          <a:prstGeom prst="rect">
            <a:avLst/>
          </a:prstGeom>
          <a:noFill/>
          <a:ln/>
        </p:spPr>
        <p:txBody>
          <a:bodyPr wrap="square" lIns="0" tIns="0" rIns="0" bIns="0" rtlCol="0" anchor="t"/>
          <a:lstStyle/>
          <a:p>
            <a:pPr algn="l" indent="0" marL="0">
              <a:buNone/>
            </a:pPr>
            <a:r>
              <a:rPr lang="en-US" sz="1200" dirty="0">
                <a:solidFill>
                  <a:schemeClr val="tx1"/>
                </a:solidFill>
              </a:rPr>
              <a:t>Intercom Fin, Zendesk AI</a:t>
            </a:r>
            <a:endParaRPr lang="en-US" sz="1200" dirty="0"/>
          </a:p>
        </p:txBody>
      </p:sp>
      <p:sp>
        <p:nvSpPr>
          <p:cNvPr id="16" name="Dot Agentforce, Sierra (enterprise price)"/>
          <p:cNvSpPr/>
          <p:nvPr/>
        </p:nvSpPr>
        <p:spPr>
          <a:xfrm>
            <a:off x="4584802" y="2638958"/>
            <a:ext cx="201168" cy="201168"/>
          </a:xfrm>
          <a:prstGeom prst="ellipse">
            <a:avLst/>
          </a:prstGeom>
          <a:solidFill>
            <a:schemeClr val="accent5"/>
          </a:solidFill>
          <a:ln/>
        </p:spPr>
      </p:sp>
      <p:sp>
        <p:nvSpPr>
          <p:cNvPr id="17" name="Text 15"/>
          <p:cNvSpPr txBox="1"/>
          <p:nvPr/>
        </p:nvSpPr>
        <p:spPr>
          <a:xfrm>
            <a:off x="2134210" y="2584094"/>
            <a:ext cx="2377440" cy="457200"/>
          </a:xfrm>
          <a:prstGeom prst="rect">
            <a:avLst/>
          </a:prstGeom>
          <a:noFill/>
          <a:ln/>
        </p:spPr>
        <p:txBody>
          <a:bodyPr wrap="square" lIns="0" tIns="0" rIns="0" bIns="0" rtlCol="0" anchor="t"/>
          <a:lstStyle/>
          <a:p>
            <a:pPr algn="r" indent="0" marL="0">
              <a:buNone/>
            </a:pPr>
            <a:r>
              <a:rPr lang="en-US" sz="1200" dirty="0">
                <a:solidFill>
                  <a:schemeClr val="tx1"/>
                </a:solidFill>
              </a:rPr>
              <a:t>Agentforce, Sierra (enterprise price)</a:t>
            </a:r>
            <a:endParaRPr lang="en-US" sz="1200" dirty="0"/>
          </a:p>
        </p:txBody>
      </p:sp>
      <p:sp>
        <p:nvSpPr>
          <p:cNvPr id="18" name="Dot Company Brain"/>
          <p:cNvSpPr/>
          <p:nvPr/>
        </p:nvSpPr>
        <p:spPr>
          <a:xfrm>
            <a:off x="5817413" y="1911096"/>
            <a:ext cx="310896" cy="310896"/>
          </a:xfrm>
          <a:prstGeom prst="ellipse">
            <a:avLst/>
          </a:prstGeom>
          <a:solidFill>
            <a:schemeClr val="accent2"/>
          </a:solidFill>
          <a:ln/>
        </p:spPr>
      </p:sp>
      <p:sp>
        <p:nvSpPr>
          <p:cNvPr id="19" name="Text 17"/>
          <p:cNvSpPr txBox="1"/>
          <p:nvPr/>
        </p:nvSpPr>
        <p:spPr>
          <a:xfrm>
            <a:off x="3824021" y="1856232"/>
            <a:ext cx="1920240" cy="457200"/>
          </a:xfrm>
          <a:prstGeom prst="rect">
            <a:avLst/>
          </a:prstGeom>
          <a:noFill/>
          <a:ln/>
        </p:spPr>
        <p:txBody>
          <a:bodyPr wrap="square" lIns="0" tIns="0" rIns="0" bIns="0" rtlCol="0" anchor="t"/>
          <a:lstStyle/>
          <a:p>
            <a:pPr algn="r" indent="0" marL="0">
              <a:buNone/>
            </a:pPr>
            <a:r>
              <a:rPr lang="en-US" sz="1400" b="1" dirty="0">
                <a:solidFill>
                  <a:schemeClr val="accent2"/>
                </a:solidFill>
              </a:rPr>
              <a:t>Company Brain</a:t>
            </a:r>
            <a:endParaRPr lang="en-US" sz="1400" dirty="0"/>
          </a:p>
        </p:txBody>
      </p:sp>
      <p:sp>
        <p:nvSpPr>
          <p:cNvPr id="20" name="Text 18"/>
          <p:cNvSpPr txBox="1"/>
          <p:nvPr/>
        </p:nvSpPr>
        <p:spPr>
          <a:xfrm>
            <a:off x="7223760" y="1645920"/>
            <a:ext cx="4389120" cy="365760"/>
          </a:xfrm>
          <a:prstGeom prst="rect">
            <a:avLst/>
          </a:prstGeom>
          <a:noFill/>
          <a:ln/>
        </p:spPr>
        <p:txBody>
          <a:bodyPr wrap="square" lIns="0" tIns="0" rIns="0" bIns="0" rtlCol="0" anchor="t"/>
          <a:lstStyle/>
          <a:p>
            <a:pPr indent="0" marL="0">
              <a:buNone/>
            </a:pPr>
            <a:r>
              <a:rPr lang="en-US" sz="1800" b="1" dirty="0">
                <a:solidFill>
                  <a:schemeClr val="tx2"/>
                </a:solidFill>
              </a:rPr>
              <a:t>What a buyer needs to be true</a:t>
            </a:r>
            <a:endParaRPr lang="en-US" sz="1800" dirty="0"/>
          </a:p>
        </p:txBody>
      </p:sp>
      <p:sp>
        <p:nvSpPr>
          <p:cNvPr id="21" name="Need 1 circle"/>
          <p:cNvSpPr/>
          <p:nvPr/>
        </p:nvSpPr>
        <p:spPr>
          <a:xfrm>
            <a:off x="7223760" y="2194560"/>
            <a:ext cx="548640" cy="548640"/>
          </a:xfrm>
          <a:prstGeom prst="ellipse">
            <a:avLst/>
          </a:prstGeom>
          <a:solidFill>
            <a:schemeClr val="bg2"/>
          </a:solidFill>
          <a:ln/>
        </p:spPr>
      </p:sp>
      <p:pic>
        <p:nvPicPr>
          <p:cNvPr id="22" name="Need 1 icon" descr="preencoded.png">    </p:cNvPr>
          <p:cNvPicPr>
            <a:picLocks noChangeAspect="1"/>
          </p:cNvPicPr>
          <p:nvPr/>
        </p:nvPicPr>
        <p:blipFill>
          <a:blip r:embed="rId1"/>
          <a:stretch>
            <a:fillRect/>
          </a:stretch>
        </p:blipFill>
        <p:spPr>
          <a:xfrm>
            <a:off x="7355434" y="2326234"/>
            <a:ext cx="285293" cy="285293"/>
          </a:xfrm>
          <a:prstGeom prst="rect">
            <a:avLst/>
          </a:prstGeom>
        </p:spPr>
      </p:pic>
      <p:sp>
        <p:nvSpPr>
          <p:cNvPr id="23" name="Text 20"/>
          <p:cNvSpPr txBox="1"/>
          <p:nvPr/>
        </p:nvSpPr>
        <p:spPr>
          <a:xfrm>
            <a:off x="7955280" y="2194560"/>
            <a:ext cx="3657600" cy="320040"/>
          </a:xfrm>
          <a:prstGeom prst="rect">
            <a:avLst/>
          </a:prstGeom>
          <a:noFill/>
          <a:ln/>
        </p:spPr>
        <p:txBody>
          <a:bodyPr wrap="square" lIns="0" tIns="0" rIns="0" bIns="0" rtlCol="0" anchor="t"/>
          <a:lstStyle/>
          <a:p>
            <a:pPr indent="0" marL="0">
              <a:buNone/>
            </a:pPr>
            <a:r>
              <a:rPr lang="en-US" sz="1600" b="1" dirty="0">
                <a:solidFill>
                  <a:schemeClr val="tx2"/>
                </a:solidFill>
              </a:rPr>
              <a:t>Agents really do the work</a:t>
            </a:r>
            <a:endParaRPr lang="en-US" sz="1600" dirty="0"/>
          </a:p>
        </p:txBody>
      </p:sp>
      <p:sp>
        <p:nvSpPr>
          <p:cNvPr id="24" name="Text 21"/>
          <p:cNvSpPr txBox="1"/>
          <p:nvPr/>
        </p:nvSpPr>
        <p:spPr>
          <a:xfrm>
            <a:off x="7955280" y="2542032"/>
            <a:ext cx="3657600" cy="731520"/>
          </a:xfrm>
          <a:prstGeom prst="rect">
            <a:avLst/>
          </a:prstGeom>
          <a:noFill/>
          <a:ln/>
        </p:spPr>
        <p:txBody>
          <a:bodyPr wrap="square" lIns="0" tIns="0" rIns="0" bIns="0" rtlCol="0" anchor="t"/>
          <a:lstStyle/>
          <a:p>
            <a:pPr indent="0" marL="0">
              <a:buNone/>
            </a:pPr>
            <a:r>
              <a:rPr lang="en-US" sz="1300" dirty="0">
                <a:solidFill>
                  <a:schemeClr val="tx1"/>
                </a:solidFill>
              </a:rPr>
              <a:t>Not just answer questions: refund, bill, schedule, update the site.</a:t>
            </a:r>
            <a:endParaRPr lang="en-US" sz="1300" dirty="0"/>
          </a:p>
        </p:txBody>
      </p:sp>
      <p:sp>
        <p:nvSpPr>
          <p:cNvPr id="25" name="Need 2 circle"/>
          <p:cNvSpPr/>
          <p:nvPr/>
        </p:nvSpPr>
        <p:spPr>
          <a:xfrm>
            <a:off x="7223760" y="3429000"/>
            <a:ext cx="548640" cy="548640"/>
          </a:xfrm>
          <a:prstGeom prst="ellipse">
            <a:avLst/>
          </a:prstGeom>
          <a:solidFill>
            <a:schemeClr val="bg2"/>
          </a:solidFill>
          <a:ln/>
        </p:spPr>
      </p:sp>
      <p:pic>
        <p:nvPicPr>
          <p:cNvPr id="26" name="Need 2 icon" descr="preencoded.png">    </p:cNvPr>
          <p:cNvPicPr>
            <a:picLocks noChangeAspect="1"/>
          </p:cNvPicPr>
          <p:nvPr/>
        </p:nvPicPr>
        <p:blipFill>
          <a:blip r:embed="rId2"/>
          <a:stretch>
            <a:fillRect/>
          </a:stretch>
        </p:blipFill>
        <p:spPr>
          <a:xfrm>
            <a:off x="7355434" y="3560674"/>
            <a:ext cx="285293" cy="285293"/>
          </a:xfrm>
          <a:prstGeom prst="rect">
            <a:avLst/>
          </a:prstGeom>
        </p:spPr>
      </p:pic>
      <p:sp>
        <p:nvSpPr>
          <p:cNvPr id="27" name="Text 23"/>
          <p:cNvSpPr txBox="1"/>
          <p:nvPr/>
        </p:nvSpPr>
        <p:spPr>
          <a:xfrm>
            <a:off x="7955280" y="3429000"/>
            <a:ext cx="3657600" cy="320040"/>
          </a:xfrm>
          <a:prstGeom prst="rect">
            <a:avLst/>
          </a:prstGeom>
          <a:noFill/>
          <a:ln/>
        </p:spPr>
        <p:txBody>
          <a:bodyPr wrap="square" lIns="0" tIns="0" rIns="0" bIns="0" rtlCol="0" anchor="t"/>
          <a:lstStyle/>
          <a:p>
            <a:pPr indent="0" marL="0">
              <a:buNone/>
            </a:pPr>
            <a:r>
              <a:rPr lang="en-US" sz="1600" b="1" dirty="0">
                <a:solidFill>
                  <a:schemeClr val="tx2"/>
                </a:solidFill>
              </a:rPr>
              <a:t>Every action is governed</a:t>
            </a:r>
            <a:endParaRPr lang="en-US" sz="1600" dirty="0"/>
          </a:p>
        </p:txBody>
      </p:sp>
      <p:sp>
        <p:nvSpPr>
          <p:cNvPr id="28" name="Text 24"/>
          <p:cNvSpPr txBox="1"/>
          <p:nvPr/>
        </p:nvSpPr>
        <p:spPr>
          <a:xfrm>
            <a:off x="7955280" y="3776472"/>
            <a:ext cx="3657600" cy="731520"/>
          </a:xfrm>
          <a:prstGeom prst="rect">
            <a:avLst/>
          </a:prstGeom>
          <a:noFill/>
          <a:ln/>
        </p:spPr>
        <p:txBody>
          <a:bodyPr wrap="square" lIns="0" tIns="0" rIns="0" bIns="0" rtlCol="0" anchor="t"/>
          <a:lstStyle/>
          <a:p>
            <a:pPr indent="0" marL="0">
              <a:buNone/>
            </a:pPr>
            <a:r>
              <a:rPr lang="en-US" sz="1300" dirty="0">
                <a:solidFill>
                  <a:schemeClr val="tx1"/>
                </a:solidFill>
              </a:rPr>
              <a:t>Approvals by risk, a full audit trail, personal data masked by default.</a:t>
            </a:r>
            <a:endParaRPr lang="en-US" sz="1300" dirty="0"/>
          </a:p>
        </p:txBody>
      </p:sp>
      <p:sp>
        <p:nvSpPr>
          <p:cNvPr id="29" name="Need 3 circle"/>
          <p:cNvSpPr/>
          <p:nvPr/>
        </p:nvSpPr>
        <p:spPr>
          <a:xfrm>
            <a:off x="7223760" y="4663440"/>
            <a:ext cx="548640" cy="548640"/>
          </a:xfrm>
          <a:prstGeom prst="ellipse">
            <a:avLst/>
          </a:prstGeom>
          <a:solidFill>
            <a:schemeClr val="bg2"/>
          </a:solidFill>
          <a:ln/>
        </p:spPr>
      </p:sp>
      <p:pic>
        <p:nvPicPr>
          <p:cNvPr id="30" name="Need 3 icon" descr="preencoded.png">    </p:cNvPr>
          <p:cNvPicPr>
            <a:picLocks noChangeAspect="1"/>
          </p:cNvPicPr>
          <p:nvPr/>
        </p:nvPicPr>
        <p:blipFill>
          <a:blip r:embed="rId3"/>
          <a:stretch>
            <a:fillRect/>
          </a:stretch>
        </p:blipFill>
        <p:spPr>
          <a:xfrm>
            <a:off x="7355434" y="4795114"/>
            <a:ext cx="285293" cy="285293"/>
          </a:xfrm>
          <a:prstGeom prst="rect">
            <a:avLst/>
          </a:prstGeom>
        </p:spPr>
      </p:pic>
      <p:sp>
        <p:nvSpPr>
          <p:cNvPr id="31" name="Text 26"/>
          <p:cNvSpPr txBox="1"/>
          <p:nvPr/>
        </p:nvSpPr>
        <p:spPr>
          <a:xfrm>
            <a:off x="7955280" y="4663440"/>
            <a:ext cx="3657600" cy="320040"/>
          </a:xfrm>
          <a:prstGeom prst="rect">
            <a:avLst/>
          </a:prstGeom>
          <a:noFill/>
          <a:ln/>
        </p:spPr>
        <p:txBody>
          <a:bodyPr wrap="square" lIns="0" tIns="0" rIns="0" bIns="0" rtlCol="0" anchor="t"/>
          <a:lstStyle/>
          <a:p>
            <a:pPr indent="0" marL="0">
              <a:buNone/>
            </a:pPr>
            <a:r>
              <a:rPr lang="en-US" sz="1600" b="1" dirty="0">
                <a:solidFill>
                  <a:schemeClr val="tx2"/>
                </a:solidFill>
              </a:rPr>
              <a:t>Built for a Sri Lankan SME</a:t>
            </a:r>
            <a:endParaRPr lang="en-US" sz="1600" dirty="0"/>
          </a:p>
        </p:txBody>
      </p:sp>
      <p:sp>
        <p:nvSpPr>
          <p:cNvPr id="32" name="Text 27"/>
          <p:cNvSpPr txBox="1"/>
          <p:nvPr/>
        </p:nvSpPr>
        <p:spPr>
          <a:xfrm>
            <a:off x="7955280" y="5010912"/>
            <a:ext cx="3657600" cy="731520"/>
          </a:xfrm>
          <a:prstGeom prst="rect">
            <a:avLst/>
          </a:prstGeom>
          <a:noFill/>
          <a:ln/>
        </p:spPr>
        <p:txBody>
          <a:bodyPr wrap="square" lIns="0" tIns="0" rIns="0" bIns="0" rtlCol="0" anchor="t"/>
          <a:lstStyle/>
          <a:p>
            <a:pPr indent="0" marL="0">
              <a:buNone/>
            </a:pPr>
            <a:r>
              <a:rPr lang="en-US" sz="1300" dirty="0">
                <a:solidFill>
                  <a:schemeClr val="tx1"/>
                </a:solidFill>
              </a:rPr>
              <a:t>Priced below one hire, LKR and PDPA ready, Sri Lankan names and IDs masked.</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6012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We have built multi-tier operations software before</a:t>
            </a:r>
            <a:endParaRPr lang="en-US" sz="3200" dirty="0"/>
          </a:p>
        </p:txBody>
      </p:sp>
      <p:sp>
        <p:nvSpPr>
          <p:cNvPr id="3" name="Person 1"/>
          <p:cNvSpPr/>
          <p:nvPr/>
        </p:nvSpPr>
        <p:spPr>
          <a:xfrm>
            <a:off x="548640" y="1645920"/>
            <a:ext cx="3474720" cy="3291840"/>
          </a:xfrm>
          <a:prstGeom prst="roundRect">
            <a:avLst>
              <a:gd name="adj" fmla="val 3333"/>
            </a:avLst>
          </a:prstGeom>
          <a:solidFill>
            <a:schemeClr val="bg1"/>
          </a:solidFill>
          <a:ln w="12700">
            <a:solidFill>
              <a:schemeClr val="accent6"/>
            </a:solidFill>
            <a:prstDash val="solid"/>
          </a:ln>
          <a:effectLst>
            <a:outerShdw sx="100000" sy="100000" kx="0" ky="0" algn="bl" rotWithShape="0" blurRad="101600" dist="25400" dir="5400000">
              <a:srgbClr val="1A1838">
                <a:alpha val="12000"/>
              </a:srgbClr>
            </a:outerShdw>
          </a:effectLst>
        </p:spPr>
      </p:sp>
      <p:sp>
        <p:nvSpPr>
          <p:cNvPr id="4" name="Avatar 1"/>
          <p:cNvSpPr/>
          <p:nvPr/>
        </p:nvSpPr>
        <p:spPr>
          <a:xfrm>
            <a:off x="822960" y="1920240"/>
            <a:ext cx="822960" cy="822960"/>
          </a:xfrm>
          <a:prstGeom prst="ellipse">
            <a:avLst/>
          </a:prstGeom>
          <a:solidFill>
            <a:schemeClr val="accent1"/>
          </a:solidFill>
          <a:ln/>
        </p:spPr>
      </p:sp>
      <p:sp>
        <p:nvSpPr>
          <p:cNvPr id="5" name="Text 3"/>
          <p:cNvSpPr txBox="1"/>
          <p:nvPr/>
        </p:nvSpPr>
        <p:spPr>
          <a:xfrm>
            <a:off x="822960" y="1920240"/>
            <a:ext cx="822960" cy="822960"/>
          </a:xfrm>
          <a:prstGeom prst="rect">
            <a:avLst/>
          </a:prstGeom>
          <a:noFill/>
          <a:ln/>
        </p:spPr>
        <p:txBody>
          <a:bodyPr wrap="square" lIns="0" tIns="0" rIns="0" bIns="0" rtlCol="0" anchor="ctr"/>
          <a:lstStyle/>
          <a:p>
            <a:pPr algn="ctr" indent="0" marL="0">
              <a:buNone/>
            </a:pPr>
            <a:r>
              <a:rPr lang="en-US" sz="2200" b="1" dirty="0">
                <a:solidFill>
                  <a:schemeClr val="bg1"/>
                </a:solidFill>
              </a:rPr>
              <a:t>PS</a:t>
            </a:r>
            <a:endParaRPr lang="en-US" sz="2200" dirty="0"/>
          </a:p>
        </p:txBody>
      </p:sp>
      <p:sp>
        <p:nvSpPr>
          <p:cNvPr id="6" name="Text 4"/>
          <p:cNvSpPr txBox="1"/>
          <p:nvPr/>
        </p:nvSpPr>
        <p:spPr>
          <a:xfrm>
            <a:off x="822960" y="2880360"/>
            <a:ext cx="2926080" cy="365760"/>
          </a:xfrm>
          <a:prstGeom prst="rect">
            <a:avLst/>
          </a:prstGeom>
          <a:noFill/>
          <a:ln/>
        </p:spPr>
        <p:txBody>
          <a:bodyPr wrap="square" lIns="0" tIns="0" rIns="0" bIns="0" rtlCol="0" anchor="t"/>
          <a:lstStyle/>
          <a:p>
            <a:pPr indent="0" marL="0">
              <a:buNone/>
            </a:pPr>
            <a:r>
              <a:rPr lang="en-US" sz="1700" b="1" dirty="0">
                <a:solidFill>
                  <a:schemeClr val="tx2"/>
                </a:solidFill>
              </a:rPr>
              <a:t>Pamuditha Senanayake</a:t>
            </a:r>
            <a:endParaRPr lang="en-US" sz="1700" dirty="0"/>
          </a:p>
        </p:txBody>
      </p:sp>
      <p:sp>
        <p:nvSpPr>
          <p:cNvPr id="7" name="Text 5"/>
          <p:cNvSpPr txBox="1"/>
          <p:nvPr/>
        </p:nvSpPr>
        <p:spPr>
          <a:xfrm>
            <a:off x="822960" y="3246120"/>
            <a:ext cx="2926080" cy="457200"/>
          </a:xfrm>
          <a:prstGeom prst="rect">
            <a:avLst/>
          </a:prstGeom>
          <a:noFill/>
          <a:ln/>
        </p:spPr>
        <p:txBody>
          <a:bodyPr wrap="square" lIns="0" tIns="0" rIns="0" bIns="0" rtlCol="0" anchor="t"/>
          <a:lstStyle/>
          <a:p>
            <a:pPr indent="0" marL="0">
              <a:buNone/>
            </a:pPr>
            <a:r>
              <a:rPr lang="en-US" sz="1300" b="1" dirty="0">
                <a:solidFill>
                  <a:schemeClr val="accent1"/>
                </a:solidFill>
              </a:rPr>
              <a:t>Founder, CEO and lead engineer</a:t>
            </a:r>
            <a:endParaRPr lang="en-US" sz="1300" dirty="0"/>
          </a:p>
        </p:txBody>
      </p:sp>
      <p:sp>
        <p:nvSpPr>
          <p:cNvPr id="8" name="Text 6"/>
          <p:cNvSpPr txBox="1"/>
          <p:nvPr/>
        </p:nvSpPr>
        <p:spPr>
          <a:xfrm>
            <a:off x="822960" y="3703320"/>
            <a:ext cx="2926080" cy="1188720"/>
          </a:xfrm>
          <a:prstGeom prst="rect">
            <a:avLst/>
          </a:prstGeom>
          <a:noFill/>
          <a:ln/>
        </p:spPr>
        <p:txBody>
          <a:bodyPr wrap="square" lIns="0" tIns="0" rIns="0" bIns="0" rtlCol="0" anchor="t"/>
          <a:lstStyle/>
          <a:p>
            <a:pPr indent="0" marL="0">
              <a:buNone/>
            </a:pPr>
            <a:r>
              <a:rPr lang="en-US" sz="1300" dirty="0">
                <a:solidFill>
                  <a:schemeClr val="tx1"/>
                </a:solidFill>
              </a:rPr>
              <a:t>Built ChainSight: separate live dashboards for a District Secretariat, Divisional Secretariats and field officers. Designed and built Company Brain's console and 15-stage pipeline.</a:t>
            </a:r>
            <a:endParaRPr lang="en-US" sz="1300" dirty="0"/>
          </a:p>
        </p:txBody>
      </p:sp>
      <p:sp>
        <p:nvSpPr>
          <p:cNvPr id="9" name="Person 2"/>
          <p:cNvSpPr/>
          <p:nvPr/>
        </p:nvSpPr>
        <p:spPr>
          <a:xfrm>
            <a:off x="4297680" y="1645920"/>
            <a:ext cx="3474720" cy="3291840"/>
          </a:xfrm>
          <a:prstGeom prst="roundRect">
            <a:avLst>
              <a:gd name="adj" fmla="val 3333"/>
            </a:avLst>
          </a:prstGeom>
          <a:solidFill>
            <a:schemeClr val="bg1"/>
          </a:solidFill>
          <a:ln w="12700">
            <a:solidFill>
              <a:schemeClr val="accent6"/>
            </a:solidFill>
            <a:prstDash val="solid"/>
          </a:ln>
          <a:effectLst>
            <a:outerShdw sx="100000" sy="100000" kx="0" ky="0" algn="bl" rotWithShape="0" blurRad="101600" dist="25400" dir="5400000">
              <a:srgbClr val="1A1838">
                <a:alpha val="12000"/>
              </a:srgbClr>
            </a:outerShdw>
          </a:effectLst>
        </p:spPr>
      </p:sp>
      <p:sp>
        <p:nvSpPr>
          <p:cNvPr id="10" name="Avatar 2"/>
          <p:cNvSpPr/>
          <p:nvPr/>
        </p:nvSpPr>
        <p:spPr>
          <a:xfrm>
            <a:off x="4572000" y="1920240"/>
            <a:ext cx="822960" cy="822960"/>
          </a:xfrm>
          <a:prstGeom prst="ellipse">
            <a:avLst/>
          </a:prstGeom>
          <a:solidFill>
            <a:schemeClr val="accent6"/>
          </a:solidFill>
          <a:ln/>
        </p:spPr>
      </p:sp>
      <p:sp>
        <p:nvSpPr>
          <p:cNvPr id="11" name="Text 9"/>
          <p:cNvSpPr txBox="1"/>
          <p:nvPr/>
        </p:nvSpPr>
        <p:spPr>
          <a:xfrm>
            <a:off x="4572000" y="1920240"/>
            <a:ext cx="822960" cy="822960"/>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sp>
        <p:nvSpPr>
          <p:cNvPr id="12" name="Text 10"/>
          <p:cNvSpPr txBox="1"/>
          <p:nvPr/>
        </p:nvSpPr>
        <p:spPr>
          <a:xfrm>
            <a:off x="4572000" y="2880360"/>
            <a:ext cx="2926080" cy="365760"/>
          </a:xfrm>
          <a:prstGeom prst="rect">
            <a:avLst/>
          </a:prstGeom>
          <a:noFill/>
          <a:ln/>
        </p:spPr>
        <p:txBody>
          <a:bodyPr wrap="square" lIns="0" tIns="0" rIns="0" bIns="0" rtlCol="0" anchor="t"/>
          <a:lstStyle/>
          <a:p>
            <a:pPr indent="0" marL="0">
              <a:buNone/>
            </a:pPr>
            <a:r>
              <a:rPr lang="en-US" sz="1700" b="1" dirty="0">
                <a:solidFill>
                  <a:schemeClr val="tx2"/>
                </a:solidFill>
              </a:rPr>
              <a:t>[ Co-founder name ]</a:t>
            </a:r>
            <a:endParaRPr lang="en-US" sz="1700" dirty="0"/>
          </a:p>
        </p:txBody>
      </p:sp>
      <p:sp>
        <p:nvSpPr>
          <p:cNvPr id="13" name="Text 11"/>
          <p:cNvSpPr txBox="1"/>
          <p:nvPr/>
        </p:nvSpPr>
        <p:spPr>
          <a:xfrm>
            <a:off x="4572000" y="3246120"/>
            <a:ext cx="2926080" cy="457200"/>
          </a:xfrm>
          <a:prstGeom prst="rect">
            <a:avLst/>
          </a:prstGeom>
          <a:noFill/>
          <a:ln/>
        </p:spPr>
        <p:txBody>
          <a:bodyPr wrap="square" lIns="0" tIns="0" rIns="0" bIns="0" rtlCol="0" anchor="t"/>
          <a:lstStyle/>
          <a:p>
            <a:pPr indent="0" marL="0">
              <a:buNone/>
            </a:pPr>
            <a:r>
              <a:rPr lang="en-US" sz="1300" b="1" dirty="0">
                <a:solidFill>
                  <a:schemeClr val="accent1"/>
                </a:solidFill>
              </a:rPr>
              <a:t>[ Role, e.g. CTO or Head of Sales ]</a:t>
            </a:r>
            <a:endParaRPr lang="en-US" sz="1300" dirty="0"/>
          </a:p>
        </p:txBody>
      </p:sp>
      <p:sp>
        <p:nvSpPr>
          <p:cNvPr id="14" name="Text 12"/>
          <p:cNvSpPr txBox="1"/>
          <p:nvPr/>
        </p:nvSpPr>
        <p:spPr>
          <a:xfrm>
            <a:off x="4572000" y="3703320"/>
            <a:ext cx="2926080" cy="1188720"/>
          </a:xfrm>
          <a:prstGeom prst="rect">
            <a:avLst/>
          </a:prstGeom>
          <a:noFill/>
          <a:ln/>
        </p:spPr>
        <p:txBody>
          <a:bodyPr wrap="square" lIns="0" tIns="0" rIns="0" bIns="0" rtlCol="0" anchor="t"/>
          <a:lstStyle/>
          <a:p>
            <a:pPr indent="0" marL="0">
              <a:buNone/>
            </a:pPr>
            <a:r>
              <a:rPr lang="en-US" sz="1300" dirty="0">
                <a:solidFill>
                  <a:schemeClr val="accent5"/>
                </a:solidFill>
              </a:rPr>
              <a:t>[ One line of relevant experience: a company, project or product like this ]</a:t>
            </a:r>
            <a:endParaRPr lang="en-US" sz="1300" dirty="0"/>
          </a:p>
        </p:txBody>
      </p:sp>
      <p:sp>
        <p:nvSpPr>
          <p:cNvPr id="15" name="Person 3"/>
          <p:cNvSpPr/>
          <p:nvPr/>
        </p:nvSpPr>
        <p:spPr>
          <a:xfrm>
            <a:off x="8046720" y="1645920"/>
            <a:ext cx="3474720" cy="3291840"/>
          </a:xfrm>
          <a:prstGeom prst="roundRect">
            <a:avLst>
              <a:gd name="adj" fmla="val 3333"/>
            </a:avLst>
          </a:prstGeom>
          <a:solidFill>
            <a:schemeClr val="bg1"/>
          </a:solidFill>
          <a:ln w="12700">
            <a:solidFill>
              <a:schemeClr val="accent6"/>
            </a:solidFill>
            <a:prstDash val="solid"/>
          </a:ln>
          <a:effectLst>
            <a:outerShdw sx="100000" sy="100000" kx="0" ky="0" algn="bl" rotWithShape="0" blurRad="101600" dist="25400" dir="5400000">
              <a:srgbClr val="1A1838">
                <a:alpha val="12000"/>
              </a:srgbClr>
            </a:outerShdw>
          </a:effectLst>
        </p:spPr>
      </p:sp>
      <p:sp>
        <p:nvSpPr>
          <p:cNvPr id="16" name="Avatar 3"/>
          <p:cNvSpPr/>
          <p:nvPr/>
        </p:nvSpPr>
        <p:spPr>
          <a:xfrm>
            <a:off x="8321040" y="1920240"/>
            <a:ext cx="822960" cy="822960"/>
          </a:xfrm>
          <a:prstGeom prst="ellipse">
            <a:avLst/>
          </a:prstGeom>
          <a:solidFill>
            <a:schemeClr val="accent6"/>
          </a:solidFill>
          <a:ln/>
        </p:spPr>
      </p:sp>
      <p:sp>
        <p:nvSpPr>
          <p:cNvPr id="17" name="Text 15"/>
          <p:cNvSpPr txBox="1"/>
          <p:nvPr/>
        </p:nvSpPr>
        <p:spPr>
          <a:xfrm>
            <a:off x="8321040" y="1920240"/>
            <a:ext cx="822960" cy="822960"/>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sp>
        <p:nvSpPr>
          <p:cNvPr id="18" name="Text 16"/>
          <p:cNvSpPr txBox="1"/>
          <p:nvPr/>
        </p:nvSpPr>
        <p:spPr>
          <a:xfrm>
            <a:off x="8321040" y="2880360"/>
            <a:ext cx="2926080" cy="365760"/>
          </a:xfrm>
          <a:prstGeom prst="rect">
            <a:avLst/>
          </a:prstGeom>
          <a:noFill/>
          <a:ln/>
        </p:spPr>
        <p:txBody>
          <a:bodyPr wrap="square" lIns="0" tIns="0" rIns="0" bIns="0" rtlCol="0" anchor="t"/>
          <a:lstStyle/>
          <a:p>
            <a:pPr indent="0" marL="0">
              <a:buNone/>
            </a:pPr>
            <a:r>
              <a:rPr lang="en-US" sz="1700" b="1" dirty="0">
                <a:solidFill>
                  <a:schemeClr val="tx2"/>
                </a:solidFill>
              </a:rPr>
              <a:t>[ Team member name ]</a:t>
            </a:r>
            <a:endParaRPr lang="en-US" sz="1700" dirty="0"/>
          </a:p>
        </p:txBody>
      </p:sp>
      <p:sp>
        <p:nvSpPr>
          <p:cNvPr id="19" name="Text 17"/>
          <p:cNvSpPr txBox="1"/>
          <p:nvPr/>
        </p:nvSpPr>
        <p:spPr>
          <a:xfrm>
            <a:off x="8321040" y="3246120"/>
            <a:ext cx="2926080" cy="457200"/>
          </a:xfrm>
          <a:prstGeom prst="rect">
            <a:avLst/>
          </a:prstGeom>
          <a:noFill/>
          <a:ln/>
        </p:spPr>
        <p:txBody>
          <a:bodyPr wrap="square" lIns="0" tIns="0" rIns="0" bIns="0" rtlCol="0" anchor="t"/>
          <a:lstStyle/>
          <a:p>
            <a:pPr indent="0" marL="0">
              <a:buNone/>
            </a:pPr>
            <a:r>
              <a:rPr lang="en-US" sz="1300" b="1" dirty="0">
                <a:solidFill>
                  <a:schemeClr val="accent1"/>
                </a:solidFill>
              </a:rPr>
              <a:t>[ Role ]</a:t>
            </a:r>
            <a:endParaRPr lang="en-US" sz="1300" dirty="0"/>
          </a:p>
        </p:txBody>
      </p:sp>
      <p:sp>
        <p:nvSpPr>
          <p:cNvPr id="20" name="Text 18"/>
          <p:cNvSpPr txBox="1"/>
          <p:nvPr/>
        </p:nvSpPr>
        <p:spPr>
          <a:xfrm>
            <a:off x="8321040" y="3703320"/>
            <a:ext cx="2926080" cy="1188720"/>
          </a:xfrm>
          <a:prstGeom prst="rect">
            <a:avLst/>
          </a:prstGeom>
          <a:noFill/>
          <a:ln/>
        </p:spPr>
        <p:txBody>
          <a:bodyPr wrap="square" lIns="0" tIns="0" rIns="0" bIns="0" rtlCol="0" anchor="t"/>
          <a:lstStyle/>
          <a:p>
            <a:pPr indent="0" marL="0">
              <a:buNone/>
            </a:pPr>
            <a:r>
              <a:rPr lang="en-US" sz="1300" dirty="0">
                <a:solidFill>
                  <a:schemeClr val="accent5"/>
                </a:solidFill>
              </a:rPr>
              <a:t>[ One line of relevant experience ]</a:t>
            </a:r>
            <a:endParaRPr lang="en-US" sz="1300" dirty="0"/>
          </a:p>
        </p:txBody>
      </p:sp>
      <p:sp>
        <p:nvSpPr>
          <p:cNvPr id="21" name="Advisors"/>
          <p:cNvSpPr/>
          <p:nvPr/>
        </p:nvSpPr>
        <p:spPr>
          <a:xfrm>
            <a:off x="548640" y="5212080"/>
            <a:ext cx="11064240" cy="822960"/>
          </a:xfrm>
          <a:prstGeom prst="roundRect">
            <a:avLst>
              <a:gd name="adj" fmla="val 13333"/>
            </a:avLst>
          </a:prstGeom>
          <a:solidFill>
            <a:schemeClr val="bg2"/>
          </a:solidFill>
          <a:ln w="12700">
            <a:solidFill>
              <a:schemeClr val="accent6"/>
            </a:solidFill>
            <a:prstDash val="solid"/>
          </a:ln>
          <a:effectLst>
            <a:outerShdw sx="100000" sy="100000" kx="0" ky="0" algn="bl" rotWithShape="0" blurRad="101600" dist="25400" dir="5400000">
              <a:srgbClr val="1A1838">
                <a:alpha val="12000"/>
              </a:srgbClr>
            </a:outerShdw>
          </a:effectLst>
        </p:spPr>
      </p:sp>
      <p:sp>
        <p:nvSpPr>
          <p:cNvPr id="22" name="Advisor circle"/>
          <p:cNvSpPr/>
          <p:nvPr/>
        </p:nvSpPr>
        <p:spPr>
          <a:xfrm>
            <a:off x="777240" y="5349240"/>
            <a:ext cx="548640" cy="548640"/>
          </a:xfrm>
          <a:prstGeom prst="ellipse">
            <a:avLst/>
          </a:prstGeom>
          <a:solidFill>
            <a:schemeClr val="accent1"/>
          </a:solidFill>
          <a:ln/>
        </p:spPr>
      </p:sp>
      <p:pic>
        <p:nvPicPr>
          <p:cNvPr id="23" name="Advisor icon" descr="preencoded.png">    </p:cNvPr>
          <p:cNvPicPr>
            <a:picLocks noChangeAspect="1"/>
          </p:cNvPicPr>
          <p:nvPr/>
        </p:nvPicPr>
        <p:blipFill>
          <a:blip r:embed="rId1"/>
          <a:stretch>
            <a:fillRect/>
          </a:stretch>
        </p:blipFill>
        <p:spPr>
          <a:xfrm>
            <a:off x="908914" y="5480914"/>
            <a:ext cx="285293" cy="285293"/>
          </a:xfrm>
          <a:prstGeom prst="rect">
            <a:avLst/>
          </a:prstGeom>
        </p:spPr>
      </p:pic>
      <p:sp>
        <p:nvSpPr>
          <p:cNvPr id="24" name="Text 21"/>
          <p:cNvSpPr txBox="1"/>
          <p:nvPr/>
        </p:nvSpPr>
        <p:spPr>
          <a:xfrm>
            <a:off x="1508760" y="5440680"/>
            <a:ext cx="9875520" cy="411480"/>
          </a:xfrm>
          <a:prstGeom prst="rect">
            <a:avLst/>
          </a:prstGeom>
          <a:noFill/>
          <a:ln/>
        </p:spPr>
        <p:txBody>
          <a:bodyPr wrap="square" lIns="0" tIns="0" rIns="0" bIns="0" rtlCol="0" anchor="ctr"/>
          <a:lstStyle/>
          <a:p>
            <a:pPr indent="0" marL="0">
              <a:buNone/>
            </a:pPr>
            <a:r>
              <a:rPr lang="en-US" sz="1400" b="1" dirty="0">
                <a:solidFill>
                  <a:schemeClr val="tx2"/>
                </a:solidFill>
              </a:rPr>
              <a:t>Advisors we are adding, each with one job:  </a:t>
            </a:r>
            <a:pPr indent="0" marL="0">
              <a:buNone/>
            </a:pPr>
            <a:r>
              <a:rPr lang="en-US" sz="1400" dirty="0">
                <a:solidFill>
                  <a:schemeClr val="accent5"/>
                </a:solidFill>
              </a:rPr>
              <a:t>[ Data protection / PDPA lawyer ]   ·   [ SME sales leader in Sri Lanka ]</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6012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Break-even in year three with 120 customers</a:t>
            </a:r>
            <a:endParaRPr lang="en-US" sz="3200" dirty="0"/>
          </a:p>
        </p:txBody>
      </p:sp>
      <p:graphicFrame>
        <p:nvGraphicFramePr>
          <p:cNvPr id="3" name="Revenue vs costs chart" descr=""/>
          <p:cNvGraphicFramePr/>
          <p:nvPr/>
        </p:nvGraphicFramePr>
        <p:xfrm>
          <a:off x="548640" y="1554480"/>
          <a:ext cx="5669280" cy="4480560"/>
        </p:xfrm>
        <a:graphic xmlns:a="http://schemas.openxmlformats.org/drawingml/2006/main">
          <a:graphicData uri="http://schemas.openxmlformats.org/drawingml/2006/chart">
            <c:chart xmlns:c="http://schemas.openxmlformats.org/drawingml/2006/chart" r:id="rId1"/>
          </a:graphicData>
        </a:graphic>
      </p:graphicFrame>
      <p:graphicFrame>
        <p:nvGraphicFramePr>
          <p:cNvPr id="12" name="Financials table"/>
          <p:cNvGraphicFramePr>
            <a:graphicFrameLocks noGrp="1"/>
          </p:cNvGraphicFramePr>
          <p:nvPr>
            <p:extLst>
              <p:ext uri="{D42A27DB-BD31-4B8C-83A1-F6EECF244321}">
                <p14:modId xmlns:p14="http://schemas.microsoft.com/office/powerpoint/2010/main" val="1579011935"/>
              </p:ext>
            </p:extLst>
          </p:nvPr>
        </p:nvGraphicFramePr>
        <p:xfrm>
          <a:off x="6583680" y="1645920"/>
          <a:ext cx="5029200" cy="914400"/>
        </p:xfrm>
        <a:graphic>
          <a:graphicData uri="http://schemas.openxmlformats.org/drawingml/2006/table">
            <a:tbl>
              <a:tblPr/>
              <a:tblGrid>
                <a:gridCol w="2148840"/>
                <a:gridCol w="960120"/>
                <a:gridCol w="960120"/>
                <a:gridCol w="960120"/>
              </a:tblGrid>
              <a:tr h="438912">
                <a:tc>
                  <a:txBody>
                    <a:bodyPr/>
                    <a:lstStyle/>
                    <a:p>
                      <a:pPr algn="ctr" indent="0" marL="0">
                        <a:buNone/>
                      </a:pPr>
                      <a:endParaRPr lang="en-US" sz="1300" dirty="0"/>
                    </a:p>
                  </a:txBody>
                  <a:tcPr marL="64008" marR="64008" marT="64008" marB="64008">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2027</a:t>
                      </a:r>
                      <a:endParaRPr lang="en-US" sz="1300" dirty="0"/>
                    </a:p>
                  </a:txBody>
                  <a:tcPr marL="64008" marR="64008" marT="64008" marB="64008">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2028</a:t>
                      </a:r>
                      <a:endParaRPr lang="en-US" sz="1300" dirty="0"/>
                    </a:p>
                  </a:txBody>
                  <a:tcPr marL="64008" marR="64008" marT="64008" marB="64008">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2029</a:t>
                      </a:r>
                      <a:endParaRPr lang="en-US" sz="1300" dirty="0"/>
                    </a:p>
                  </a:txBody>
                  <a:tcPr marL="64008" marR="64008" marT="64008" marB="64008">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tx2"/>
                    </a:solidFill>
                  </a:tcPr>
                </a:tc>
              </a:tr>
              <a:tr h="438912">
                <a:tc>
                  <a:txBody>
                    <a:bodyPr/>
                    <a:lstStyle/>
                    <a:p>
                      <a:pPr indent="0" marL="0">
                        <a:buNone/>
                      </a:pPr>
                      <a:r>
                        <a:rPr lang="en-US" sz="1300" b="1" dirty="0">
                          <a:solidFill>
                            <a:schemeClr val="tx2"/>
                          </a:solidFill>
                        </a:rPr>
                        <a:t>Customers at year end</a:t>
                      </a:r>
                      <a:endParaRPr lang="en-US" sz="1300" dirty="0"/>
                    </a:p>
                  </a:txBody>
                  <a:tcPr marL="64008" marR="64008" marT="64008" marB="64008">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20</a:t>
                      </a:r>
                      <a:endParaRPr lang="en-US" sz="1300" dirty="0"/>
                    </a:p>
                  </a:txBody>
                  <a:tcPr marL="64008" marR="64008" marT="64008" marB="64008">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50</a:t>
                      </a:r>
                      <a:endParaRPr lang="en-US" sz="1300" dirty="0"/>
                    </a:p>
                  </a:txBody>
                  <a:tcPr marL="64008" marR="64008" marT="64008" marB="64008">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120</a:t>
                      </a:r>
                      <a:endParaRPr lang="en-US" sz="1300" dirty="0"/>
                    </a:p>
                  </a:txBody>
                  <a:tcPr marL="64008" marR="64008" marT="64008" marB="64008">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bg1"/>
                    </a:solidFill>
                  </a:tcPr>
                </a:tc>
              </a:tr>
              <a:tr h="438912">
                <a:tc>
                  <a:txBody>
                    <a:bodyPr/>
                    <a:lstStyle/>
                    <a:p>
                      <a:pPr indent="0" marL="0">
                        <a:buNone/>
                      </a:pPr>
                      <a:r>
                        <a:rPr lang="en-US" sz="1300" b="1" dirty="0">
                          <a:solidFill>
                            <a:schemeClr val="tx2"/>
                          </a:solidFill>
                        </a:rPr>
                        <a:t>ARR at year end</a:t>
                      </a:r>
                      <a:endParaRPr lang="en-US" sz="1300" dirty="0"/>
                    </a:p>
                  </a:txBody>
                  <a:tcPr marL="64008" marR="64008" marT="64008" marB="64008">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120K</a:t>
                      </a:r>
                      <a:endParaRPr lang="en-US" sz="1300" dirty="0"/>
                    </a:p>
                  </a:txBody>
                  <a:tcPr marL="64008" marR="64008" marT="64008" marB="64008">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300K</a:t>
                      </a:r>
                      <a:endParaRPr lang="en-US" sz="1300" dirty="0"/>
                    </a:p>
                  </a:txBody>
                  <a:tcPr marL="64008" marR="64008" marT="64008" marB="64008">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720K</a:t>
                      </a:r>
                      <a:endParaRPr lang="en-US" sz="1300" dirty="0"/>
                    </a:p>
                  </a:txBody>
                  <a:tcPr marL="64008" marR="64008" marT="64008" marB="64008">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bg1"/>
                    </a:solidFill>
                  </a:tcPr>
                </a:tc>
              </a:tr>
              <a:tr h="438912">
                <a:tc>
                  <a:txBody>
                    <a:bodyPr/>
                    <a:lstStyle/>
                    <a:p>
                      <a:pPr indent="0" marL="0">
                        <a:buNone/>
                      </a:pPr>
                      <a:r>
                        <a:rPr lang="en-US" sz="1300" b="1" dirty="0">
                          <a:solidFill>
                            <a:schemeClr val="tx2"/>
                          </a:solidFill>
                        </a:rPr>
                        <a:t>Net result</a:t>
                      </a:r>
                      <a:endParaRPr lang="en-US" sz="1300" dirty="0"/>
                    </a:p>
                  </a:txBody>
                  <a:tcPr marL="64008" marR="64008" marT="64008" marB="64008">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2"/>
                          </a:solidFill>
                        </a:rPr>
                        <a:t>−90K</a:t>
                      </a:r>
                      <a:endParaRPr lang="en-US" sz="1300" dirty="0"/>
                    </a:p>
                  </a:txBody>
                  <a:tcPr marL="64008" marR="64008" marT="64008" marB="64008">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2"/>
                          </a:solidFill>
                        </a:rPr>
                        <a:t>−100K</a:t>
                      </a:r>
                      <a:endParaRPr lang="en-US" sz="1300" dirty="0"/>
                    </a:p>
                  </a:txBody>
                  <a:tcPr marL="64008" marR="64008" marT="64008" marB="64008">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3"/>
                          </a:solidFill>
                        </a:rPr>
                        <a:t>+30K</a:t>
                      </a:r>
                      <a:endParaRPr lang="en-US" sz="1300" dirty="0"/>
                    </a:p>
                  </a:txBody>
                  <a:tcPr marL="64008" marR="64008" marT="64008" marB="64008">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bg1"/>
                    </a:solidFill>
                  </a:tcPr>
                </a:tc>
              </a:tr>
              <a:tr h="438912">
                <a:tc>
                  <a:txBody>
                    <a:bodyPr/>
                    <a:lstStyle/>
                    <a:p>
                      <a:pPr indent="0" marL="0">
                        <a:buNone/>
                      </a:pPr>
                      <a:r>
                        <a:rPr lang="en-US" sz="1300" b="1" dirty="0">
                          <a:solidFill>
                            <a:schemeClr val="tx2"/>
                          </a:solidFill>
                        </a:rPr>
                        <a:t>Avg monthly net burn</a:t>
                      </a:r>
                      <a:endParaRPr lang="en-US" sz="1300" dirty="0"/>
                    </a:p>
                  </a:txBody>
                  <a:tcPr marL="64008" marR="64008" marT="64008" marB="64008">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7.5K</a:t>
                      </a:r>
                      <a:endParaRPr lang="en-US" sz="1300" dirty="0"/>
                    </a:p>
                  </a:txBody>
                  <a:tcPr marL="64008" marR="64008" marT="64008" marB="64008">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8.3K</a:t>
                      </a:r>
                      <a:endParaRPr lang="en-US" sz="1300" dirty="0"/>
                    </a:p>
                  </a:txBody>
                  <a:tcPr marL="64008" marR="64008" marT="64008" marB="64008">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0</a:t>
                      </a:r>
                      <a:endParaRPr lang="en-US" sz="1300" dirty="0"/>
                    </a:p>
                  </a:txBody>
                  <a:tcPr marL="64008" marR="64008" marT="64008" marB="64008">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bg1"/>
                    </a:solidFill>
                  </a:tcPr>
                </a:tc>
              </a:tr>
              <a:tr h="438912">
                <a:tc>
                  <a:txBody>
                    <a:bodyPr/>
                    <a:lstStyle/>
                    <a:p>
                      <a:pPr indent="0" marL="0">
                        <a:buNone/>
                      </a:pPr>
                      <a:r>
                        <a:rPr lang="en-US" sz="1300" b="1" dirty="0">
                          <a:solidFill>
                            <a:schemeClr val="tx2"/>
                          </a:solidFill>
                        </a:rPr>
                        <a:t>Headcount</a:t>
                      </a:r>
                      <a:endParaRPr lang="en-US" sz="1300" dirty="0"/>
                    </a:p>
                  </a:txBody>
                  <a:tcPr marL="64008" marR="64008" marT="64008" marB="64008">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5</a:t>
                      </a:r>
                      <a:endParaRPr lang="en-US" sz="1300" dirty="0"/>
                    </a:p>
                  </a:txBody>
                  <a:tcPr marL="64008" marR="64008" marT="64008" marB="64008">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8</a:t>
                      </a:r>
                      <a:endParaRPr lang="en-US" sz="1300" dirty="0"/>
                    </a:p>
                  </a:txBody>
                  <a:tcPr marL="64008" marR="64008" marT="64008" marB="64008">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13</a:t>
                      </a:r>
                      <a:endParaRPr lang="en-US" sz="1300" dirty="0"/>
                    </a:p>
                  </a:txBody>
                  <a:tcPr marL="64008" marR="64008" marT="64008" marB="64008">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bg1"/>
                    </a:solidFill>
                  </a:tcPr>
                </a:tc>
              </a:tr>
              <a:tr h="438912">
                <a:tc>
                  <a:txBody>
                    <a:bodyPr/>
                    <a:lstStyle/>
                    <a:p>
                      <a:pPr indent="0" marL="0">
                        <a:buNone/>
                      </a:pPr>
                      <a:r>
                        <a:rPr lang="en-US" sz="1300" b="1" dirty="0">
                          <a:solidFill>
                            <a:schemeClr val="tx2"/>
                          </a:solidFill>
                        </a:rPr>
                        <a:t>Monthly churn (target)</a:t>
                      </a:r>
                      <a:endParaRPr lang="en-US" sz="1300" dirty="0"/>
                    </a:p>
                  </a:txBody>
                  <a:tcPr marL="64008" marR="64008" marT="64008" marB="64008">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&lt; 4%</a:t>
                      </a:r>
                      <a:endParaRPr lang="en-US" sz="1300" dirty="0"/>
                    </a:p>
                  </a:txBody>
                  <a:tcPr marL="64008" marR="64008" marT="64008" marB="64008">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&lt; 4%</a:t>
                      </a:r>
                      <a:endParaRPr lang="en-US" sz="1300" dirty="0"/>
                    </a:p>
                  </a:txBody>
                  <a:tcPr marL="64008" marR="64008" marT="64008" marB="64008">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&lt; 3%</a:t>
                      </a:r>
                      <a:endParaRPr lang="en-US" sz="1300" dirty="0"/>
                    </a:p>
                  </a:txBody>
                  <a:tcPr marL="64008" marR="64008" marT="64008" marB="64008">
                    <a:lnL w="12700" cap="flat" cmpd="sng" algn="ctr">
                      <a:solidFill>
                        <a:srgbClr val="DCDAF2"/>
                      </a:solidFill>
                      <a:prstDash val="solid"/>
                      <a:round/>
                      <a:headEnd type="none" w="med" len="med"/>
                      <a:tailEnd type="none" w="med" len="med"/>
                    </a:lnL>
                    <a:lnR w="12700" cap="flat" cmpd="sng" algn="ctr">
                      <a:solidFill>
                        <a:srgbClr val="DCDAF2"/>
                      </a:solidFill>
                      <a:prstDash val="solid"/>
                      <a:round/>
                      <a:headEnd type="none" w="med" len="med"/>
                      <a:tailEnd type="none" w="med" len="med"/>
                    </a:lnR>
                    <a:lnT w="12700" cap="flat" cmpd="sng" algn="ctr">
                      <a:solidFill>
                        <a:srgbClr val="DCDAF2"/>
                      </a:solidFill>
                      <a:prstDash val="solid"/>
                      <a:round/>
                      <a:headEnd type="none" w="med" len="med"/>
                      <a:tailEnd type="none" w="med" len="med"/>
                    </a:lnT>
                    <a:lnB w="12700" cap="flat" cmpd="sng" algn="ctr">
                      <a:solidFill>
                        <a:srgbClr val="DCDAF2"/>
                      </a:solidFill>
                      <a:prstDash val="solid"/>
                      <a:round/>
                      <a:headEnd type="none" w="med" len="med"/>
                      <a:tailEnd type="none" w="med" len="med"/>
                    </a:lnB>
                    <a:solidFill>
                      <a:schemeClr val="bg1"/>
                    </a:solidFill>
                  </a:tcPr>
                </a:tc>
              </a:tr>
            </a:tbl>
          </a:graphicData>
        </a:graphic>
      </p:graphicFrame>
      <p:sp>
        <p:nvSpPr>
          <p:cNvPr id="5" name="Text 1"/>
          <p:cNvSpPr txBox="1"/>
          <p:nvPr/>
        </p:nvSpPr>
        <p:spPr>
          <a:xfrm>
            <a:off x="6583680" y="4937760"/>
            <a:ext cx="5029200" cy="731520"/>
          </a:xfrm>
          <a:prstGeom prst="rect">
            <a:avLst/>
          </a:prstGeom>
          <a:noFill/>
          <a:ln/>
        </p:spPr>
        <p:txBody>
          <a:bodyPr wrap="square" lIns="0" tIns="0" rIns="0" bIns="0" rtlCol="0" anchor="t"/>
          <a:lstStyle/>
          <a:p>
            <a:pPr indent="0" marL="0">
              <a:buNone/>
            </a:pPr>
            <a:r>
              <a:rPr lang="en-US" sz="1200" i="1" dirty="0">
                <a:solidFill>
                  <a:schemeClr val="accent5"/>
                </a:solidFill>
              </a:rPr>
              <a:t>All figures USD. Revenue = average customers in the year × USD 6,000. Pre-revenue estimates we can walk through line by line.</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6012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USD 250K takes us to 50 customers and USD 300K ARR</a:t>
            </a:r>
            <a:endParaRPr lang="en-US" sz="3200" dirty="0"/>
          </a:p>
        </p:txBody>
      </p:sp>
      <p:sp>
        <p:nvSpPr>
          <p:cNvPr id="3" name="Text 1"/>
          <p:cNvSpPr txBox="1"/>
          <p:nvPr/>
        </p:nvSpPr>
        <p:spPr>
          <a:xfrm>
            <a:off x="548640" y="1645920"/>
            <a:ext cx="3657600" cy="365760"/>
          </a:xfrm>
          <a:prstGeom prst="rect">
            <a:avLst/>
          </a:prstGeom>
          <a:noFill/>
          <a:ln/>
        </p:spPr>
        <p:txBody>
          <a:bodyPr wrap="square" lIns="0" tIns="0" rIns="0" bIns="0" rtlCol="0" anchor="t"/>
          <a:lstStyle/>
          <a:p>
            <a:pPr indent="0" marL="0">
              <a:buNone/>
            </a:pPr>
            <a:r>
              <a:rPr lang="en-US" sz="1600" dirty="0">
                <a:solidFill>
                  <a:schemeClr val="accent5"/>
                </a:solidFill>
              </a:rPr>
              <a:t>We are raising</a:t>
            </a:r>
            <a:endParaRPr lang="en-US" sz="1600" dirty="0"/>
          </a:p>
        </p:txBody>
      </p:sp>
      <p:sp>
        <p:nvSpPr>
          <p:cNvPr id="4" name="Text 2"/>
          <p:cNvSpPr txBox="1"/>
          <p:nvPr/>
        </p:nvSpPr>
        <p:spPr>
          <a:xfrm>
            <a:off x="548640" y="2011680"/>
            <a:ext cx="3840480" cy="822960"/>
          </a:xfrm>
          <a:prstGeom prst="rect">
            <a:avLst/>
          </a:prstGeom>
          <a:noFill/>
          <a:ln/>
        </p:spPr>
        <p:txBody>
          <a:bodyPr wrap="square" lIns="0" tIns="0" rIns="0" bIns="0" rtlCol="0" anchor="t"/>
          <a:lstStyle/>
          <a:p>
            <a:pPr indent="0" marL="0">
              <a:buNone/>
            </a:pPr>
            <a:r>
              <a:rPr lang="en-US" sz="4800" b="1" dirty="0">
                <a:solidFill>
                  <a:schemeClr val="accent1"/>
                </a:solidFill>
                <a:latin typeface="Arial" pitchFamily="34" charset="0"/>
                <a:ea typeface="Arial" pitchFamily="34" charset="-122"/>
                <a:cs typeface="Arial" pitchFamily="34" charset="-120"/>
              </a:rPr>
              <a:t>USD 250K</a:t>
            </a:r>
            <a:endParaRPr lang="en-US" sz="4800" dirty="0"/>
          </a:p>
        </p:txBody>
      </p:sp>
      <p:sp>
        <p:nvSpPr>
          <p:cNvPr id="5" name="Text 3"/>
          <p:cNvSpPr txBox="1"/>
          <p:nvPr/>
        </p:nvSpPr>
        <p:spPr>
          <a:xfrm>
            <a:off x="548640" y="2834640"/>
            <a:ext cx="3840480" cy="365760"/>
          </a:xfrm>
          <a:prstGeom prst="rect">
            <a:avLst/>
          </a:prstGeom>
          <a:noFill/>
          <a:ln/>
        </p:spPr>
        <p:txBody>
          <a:bodyPr wrap="square" lIns="0" tIns="0" rIns="0" bIns="0" rtlCol="0" anchor="t"/>
          <a:lstStyle/>
          <a:p>
            <a:pPr indent="0" marL="0">
              <a:buNone/>
            </a:pPr>
            <a:r>
              <a:rPr lang="en-US" sz="1500" b="1" dirty="0">
                <a:solidFill>
                  <a:schemeClr val="tx2"/>
                </a:solidFill>
              </a:rPr>
              <a:t>Pre-seed  ·  24 months of runway</a:t>
            </a:r>
            <a:endParaRPr lang="en-US" sz="1500" dirty="0"/>
          </a:p>
        </p:txBody>
      </p:sp>
      <p:graphicFrame>
        <p:nvGraphicFramePr>
          <p:cNvPr id="6" name="Use of funds chart" descr=""/>
          <p:cNvGraphicFramePr/>
          <p:nvPr/>
        </p:nvGraphicFramePr>
        <p:xfrm>
          <a:off x="411480" y="3291840"/>
          <a:ext cx="4206240" cy="28346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120640" y="1645920"/>
            <a:ext cx="6492240" cy="365760"/>
          </a:xfrm>
          <a:prstGeom prst="rect">
            <a:avLst/>
          </a:prstGeom>
          <a:noFill/>
          <a:ln/>
        </p:spPr>
        <p:txBody>
          <a:bodyPr wrap="square" lIns="0" tIns="0" rIns="0" bIns="0" rtlCol="0" anchor="t"/>
          <a:lstStyle/>
          <a:p>
            <a:pPr indent="0" marL="0">
              <a:buNone/>
            </a:pPr>
            <a:r>
              <a:rPr lang="en-US" sz="1800" b="1" dirty="0">
                <a:solidFill>
                  <a:schemeClr val="tx2"/>
                </a:solidFill>
              </a:rPr>
              <a:t>What the money proves by month 24</a:t>
            </a:r>
            <a:endParaRPr lang="en-US" sz="1800" dirty="0"/>
          </a:p>
        </p:txBody>
      </p:sp>
      <p:sp>
        <p:nvSpPr>
          <p:cNvPr id="8" name="Milestone 1"/>
          <p:cNvSpPr/>
          <p:nvPr/>
        </p:nvSpPr>
        <p:spPr>
          <a:xfrm>
            <a:off x="5120640" y="2194560"/>
            <a:ext cx="6492240" cy="804672"/>
          </a:xfrm>
          <a:prstGeom prst="roundRect">
            <a:avLst>
              <a:gd name="adj" fmla="val 13636"/>
            </a:avLst>
          </a:prstGeom>
          <a:solidFill>
            <a:schemeClr val="bg1"/>
          </a:solidFill>
          <a:ln w="12700">
            <a:solidFill>
              <a:schemeClr val="accent6"/>
            </a:solidFill>
            <a:prstDash val="solid"/>
          </a:ln>
          <a:effectLst>
            <a:outerShdw sx="100000" sy="100000" kx="0" ky="0" algn="bl" rotWithShape="0" blurRad="101600" dist="25400" dir="5400000">
              <a:srgbClr val="1A1838">
                <a:alpha val="12000"/>
              </a:srgbClr>
            </a:outerShdw>
          </a:effectLst>
        </p:spPr>
      </p:sp>
      <p:sp>
        <p:nvSpPr>
          <p:cNvPr id="9" name="Milestone 1 circle"/>
          <p:cNvSpPr/>
          <p:nvPr/>
        </p:nvSpPr>
        <p:spPr>
          <a:xfrm>
            <a:off x="5303520" y="2340864"/>
            <a:ext cx="512064" cy="512064"/>
          </a:xfrm>
          <a:prstGeom prst="ellipse">
            <a:avLst/>
          </a:prstGeom>
          <a:solidFill>
            <a:schemeClr val="accent1"/>
          </a:solidFill>
          <a:ln/>
        </p:spPr>
      </p:sp>
      <p:pic>
        <p:nvPicPr>
          <p:cNvPr id="10" name="Milestone 1 icon" descr="preencoded.png">    </p:cNvPr>
          <p:cNvPicPr>
            <a:picLocks noChangeAspect="1"/>
          </p:cNvPicPr>
          <p:nvPr/>
        </p:nvPicPr>
        <p:blipFill>
          <a:blip r:embed="rId2"/>
          <a:stretch>
            <a:fillRect/>
          </a:stretch>
        </p:blipFill>
        <p:spPr>
          <a:xfrm>
            <a:off x="5426415" y="2463759"/>
            <a:ext cx="266273" cy="266273"/>
          </a:xfrm>
          <a:prstGeom prst="rect">
            <a:avLst/>
          </a:prstGeom>
        </p:spPr>
      </p:pic>
      <p:sp>
        <p:nvSpPr>
          <p:cNvPr id="11" name="Text 7"/>
          <p:cNvSpPr txBox="1"/>
          <p:nvPr/>
        </p:nvSpPr>
        <p:spPr>
          <a:xfrm>
            <a:off x="6035040" y="2313432"/>
            <a:ext cx="5394960" cy="320040"/>
          </a:xfrm>
          <a:prstGeom prst="rect">
            <a:avLst/>
          </a:prstGeom>
          <a:noFill/>
          <a:ln/>
        </p:spPr>
        <p:txBody>
          <a:bodyPr wrap="square" lIns="0" tIns="0" rIns="0" bIns="0" rtlCol="0" anchor="t"/>
          <a:lstStyle/>
          <a:p>
            <a:pPr indent="0" marL="0">
              <a:buNone/>
            </a:pPr>
            <a:r>
              <a:rPr lang="en-US" sz="1700" b="1" dirty="0">
                <a:solidFill>
                  <a:schemeClr val="tx2"/>
                </a:solidFill>
              </a:rPr>
              <a:t>50 paying SMEs</a:t>
            </a:r>
            <a:endParaRPr lang="en-US" sz="1700" dirty="0"/>
          </a:p>
        </p:txBody>
      </p:sp>
      <p:sp>
        <p:nvSpPr>
          <p:cNvPr id="12" name="Text 8"/>
          <p:cNvSpPr txBox="1"/>
          <p:nvPr/>
        </p:nvSpPr>
        <p:spPr>
          <a:xfrm>
            <a:off x="6035040" y="2633472"/>
            <a:ext cx="5394960" cy="274320"/>
          </a:xfrm>
          <a:prstGeom prst="rect">
            <a:avLst/>
          </a:prstGeom>
          <a:noFill/>
          <a:ln/>
        </p:spPr>
        <p:txBody>
          <a:bodyPr wrap="square" lIns="0" tIns="0" rIns="0" bIns="0" rtlCol="0" anchor="t"/>
          <a:lstStyle/>
          <a:p>
            <a:pPr indent="0" marL="0">
              <a:buNone/>
            </a:pPr>
            <a:r>
              <a:rPr lang="en-US" sz="1300" dirty="0">
                <a:solidFill>
                  <a:schemeClr val="accent5"/>
                </a:solidFill>
              </a:rPr>
              <a:t>Companies choose us and pay every month</a:t>
            </a:r>
            <a:endParaRPr lang="en-US" sz="1300" dirty="0"/>
          </a:p>
        </p:txBody>
      </p:sp>
      <p:sp>
        <p:nvSpPr>
          <p:cNvPr id="13" name="Milestone 2"/>
          <p:cNvSpPr/>
          <p:nvPr/>
        </p:nvSpPr>
        <p:spPr>
          <a:xfrm>
            <a:off x="5120640" y="3154680"/>
            <a:ext cx="6492240" cy="804672"/>
          </a:xfrm>
          <a:prstGeom prst="roundRect">
            <a:avLst>
              <a:gd name="adj" fmla="val 13636"/>
            </a:avLst>
          </a:prstGeom>
          <a:solidFill>
            <a:schemeClr val="bg1"/>
          </a:solidFill>
          <a:ln w="12700">
            <a:solidFill>
              <a:schemeClr val="accent6"/>
            </a:solidFill>
            <a:prstDash val="solid"/>
          </a:ln>
          <a:effectLst>
            <a:outerShdw sx="100000" sy="100000" kx="0" ky="0" algn="bl" rotWithShape="0" blurRad="101600" dist="25400" dir="5400000">
              <a:srgbClr val="1A1838">
                <a:alpha val="12000"/>
              </a:srgbClr>
            </a:outerShdw>
          </a:effectLst>
        </p:spPr>
      </p:sp>
      <p:sp>
        <p:nvSpPr>
          <p:cNvPr id="14" name="Milestone 2 circle"/>
          <p:cNvSpPr/>
          <p:nvPr/>
        </p:nvSpPr>
        <p:spPr>
          <a:xfrm>
            <a:off x="5303520" y="3300984"/>
            <a:ext cx="512064" cy="512064"/>
          </a:xfrm>
          <a:prstGeom prst="ellipse">
            <a:avLst/>
          </a:prstGeom>
          <a:solidFill>
            <a:schemeClr val="accent1"/>
          </a:solidFill>
          <a:ln/>
        </p:spPr>
      </p:sp>
      <p:pic>
        <p:nvPicPr>
          <p:cNvPr id="15" name="Milestone 2 icon" descr="preencoded.png">    </p:cNvPr>
          <p:cNvPicPr>
            <a:picLocks noChangeAspect="1"/>
          </p:cNvPicPr>
          <p:nvPr/>
        </p:nvPicPr>
        <p:blipFill>
          <a:blip r:embed="rId3"/>
          <a:stretch>
            <a:fillRect/>
          </a:stretch>
        </p:blipFill>
        <p:spPr>
          <a:xfrm>
            <a:off x="5426415" y="3423879"/>
            <a:ext cx="266273" cy="266273"/>
          </a:xfrm>
          <a:prstGeom prst="rect">
            <a:avLst/>
          </a:prstGeom>
        </p:spPr>
      </p:pic>
      <p:sp>
        <p:nvSpPr>
          <p:cNvPr id="16" name="Text 11"/>
          <p:cNvSpPr txBox="1"/>
          <p:nvPr/>
        </p:nvSpPr>
        <p:spPr>
          <a:xfrm>
            <a:off x="6035040" y="3273552"/>
            <a:ext cx="5394960" cy="320040"/>
          </a:xfrm>
          <a:prstGeom prst="rect">
            <a:avLst/>
          </a:prstGeom>
          <a:noFill/>
          <a:ln/>
        </p:spPr>
        <p:txBody>
          <a:bodyPr wrap="square" lIns="0" tIns="0" rIns="0" bIns="0" rtlCol="0" anchor="t"/>
          <a:lstStyle/>
          <a:p>
            <a:pPr indent="0" marL="0">
              <a:buNone/>
            </a:pPr>
            <a:r>
              <a:rPr lang="en-US" sz="1700" b="1" dirty="0">
                <a:solidFill>
                  <a:schemeClr val="tx2"/>
                </a:solidFill>
              </a:rPr>
              <a:t>USD 300K ARR</a:t>
            </a:r>
            <a:endParaRPr lang="en-US" sz="1700" dirty="0"/>
          </a:p>
        </p:txBody>
      </p:sp>
      <p:sp>
        <p:nvSpPr>
          <p:cNvPr id="17" name="Text 12"/>
          <p:cNvSpPr txBox="1"/>
          <p:nvPr/>
        </p:nvSpPr>
        <p:spPr>
          <a:xfrm>
            <a:off x="6035040" y="3593592"/>
            <a:ext cx="5394960" cy="274320"/>
          </a:xfrm>
          <a:prstGeom prst="rect">
            <a:avLst/>
          </a:prstGeom>
          <a:noFill/>
          <a:ln/>
        </p:spPr>
        <p:txBody>
          <a:bodyPr wrap="square" lIns="0" tIns="0" rIns="0" bIns="0" rtlCol="0" anchor="t"/>
          <a:lstStyle/>
          <a:p>
            <a:pPr indent="0" marL="0">
              <a:buNone/>
            </a:pPr>
            <a:r>
              <a:rPr lang="en-US" sz="1300" dirty="0">
                <a:solidFill>
                  <a:schemeClr val="accent5"/>
                </a:solidFill>
              </a:rPr>
              <a:t>Revenue that repeats, at 75% gross margin</a:t>
            </a:r>
            <a:endParaRPr lang="en-US" sz="1300" dirty="0"/>
          </a:p>
        </p:txBody>
      </p:sp>
      <p:sp>
        <p:nvSpPr>
          <p:cNvPr id="18" name="Milestone 3"/>
          <p:cNvSpPr/>
          <p:nvPr/>
        </p:nvSpPr>
        <p:spPr>
          <a:xfrm>
            <a:off x="5120640" y="4114800"/>
            <a:ext cx="6492240" cy="804672"/>
          </a:xfrm>
          <a:prstGeom prst="roundRect">
            <a:avLst>
              <a:gd name="adj" fmla="val 13636"/>
            </a:avLst>
          </a:prstGeom>
          <a:solidFill>
            <a:schemeClr val="bg1"/>
          </a:solidFill>
          <a:ln w="12700">
            <a:solidFill>
              <a:schemeClr val="accent6"/>
            </a:solidFill>
            <a:prstDash val="solid"/>
          </a:ln>
          <a:effectLst>
            <a:outerShdw sx="100000" sy="100000" kx="0" ky="0" algn="bl" rotWithShape="0" blurRad="101600" dist="25400" dir="5400000">
              <a:srgbClr val="1A1838">
                <a:alpha val="12000"/>
              </a:srgbClr>
            </a:outerShdw>
          </a:effectLst>
        </p:spPr>
      </p:sp>
      <p:sp>
        <p:nvSpPr>
          <p:cNvPr id="19" name="Milestone 3 circle"/>
          <p:cNvSpPr/>
          <p:nvPr/>
        </p:nvSpPr>
        <p:spPr>
          <a:xfrm>
            <a:off x="5303520" y="4261104"/>
            <a:ext cx="512064" cy="512064"/>
          </a:xfrm>
          <a:prstGeom prst="ellipse">
            <a:avLst/>
          </a:prstGeom>
          <a:solidFill>
            <a:schemeClr val="accent1"/>
          </a:solidFill>
          <a:ln/>
        </p:spPr>
      </p:sp>
      <p:pic>
        <p:nvPicPr>
          <p:cNvPr id="20" name="Milestone 3 icon" descr="preencoded.png">    </p:cNvPr>
          <p:cNvPicPr>
            <a:picLocks noChangeAspect="1"/>
          </p:cNvPicPr>
          <p:nvPr/>
        </p:nvPicPr>
        <p:blipFill>
          <a:blip r:embed="rId4"/>
          <a:stretch>
            <a:fillRect/>
          </a:stretch>
        </p:blipFill>
        <p:spPr>
          <a:xfrm>
            <a:off x="5426415" y="4383999"/>
            <a:ext cx="266273" cy="266273"/>
          </a:xfrm>
          <a:prstGeom prst="rect">
            <a:avLst/>
          </a:prstGeom>
        </p:spPr>
      </p:pic>
      <p:sp>
        <p:nvSpPr>
          <p:cNvPr id="21" name="Text 15"/>
          <p:cNvSpPr txBox="1"/>
          <p:nvPr/>
        </p:nvSpPr>
        <p:spPr>
          <a:xfrm>
            <a:off x="6035040" y="4233672"/>
            <a:ext cx="5394960" cy="320040"/>
          </a:xfrm>
          <a:prstGeom prst="rect">
            <a:avLst/>
          </a:prstGeom>
          <a:noFill/>
          <a:ln/>
        </p:spPr>
        <p:txBody>
          <a:bodyPr wrap="square" lIns="0" tIns="0" rIns="0" bIns="0" rtlCol="0" anchor="t"/>
          <a:lstStyle/>
          <a:p>
            <a:pPr indent="0" marL="0">
              <a:buNone/>
            </a:pPr>
            <a:r>
              <a:rPr lang="en-US" sz="1700" b="1" dirty="0">
                <a:solidFill>
                  <a:schemeClr val="tx2"/>
                </a:solidFill>
              </a:rPr>
              <a:t>Churn under 4% a month</a:t>
            </a:r>
            <a:endParaRPr lang="en-US" sz="1700" dirty="0"/>
          </a:p>
        </p:txBody>
      </p:sp>
      <p:sp>
        <p:nvSpPr>
          <p:cNvPr id="22" name="Text 16"/>
          <p:cNvSpPr txBox="1"/>
          <p:nvPr/>
        </p:nvSpPr>
        <p:spPr>
          <a:xfrm>
            <a:off x="6035040" y="4553712"/>
            <a:ext cx="5394960" cy="274320"/>
          </a:xfrm>
          <a:prstGeom prst="rect">
            <a:avLst/>
          </a:prstGeom>
          <a:noFill/>
          <a:ln/>
        </p:spPr>
        <p:txBody>
          <a:bodyPr wrap="square" lIns="0" tIns="0" rIns="0" bIns="0" rtlCol="0" anchor="t"/>
          <a:lstStyle/>
          <a:p>
            <a:pPr indent="0" marL="0">
              <a:buNone/>
            </a:pPr>
            <a:r>
              <a:rPr lang="en-US" sz="1300" dirty="0">
                <a:solidFill>
                  <a:schemeClr val="accent5"/>
                </a:solidFill>
              </a:rPr>
              <a:t>Customers stay because agents keep improving</a:t>
            </a:r>
            <a:endParaRPr lang="en-US" sz="1300" dirty="0"/>
          </a:p>
        </p:txBody>
      </p:sp>
      <p:sp>
        <p:nvSpPr>
          <p:cNvPr id="23" name="Milestone 4"/>
          <p:cNvSpPr/>
          <p:nvPr/>
        </p:nvSpPr>
        <p:spPr>
          <a:xfrm>
            <a:off x="5120640" y="5074920"/>
            <a:ext cx="6492240" cy="804672"/>
          </a:xfrm>
          <a:prstGeom prst="roundRect">
            <a:avLst>
              <a:gd name="adj" fmla="val 13636"/>
            </a:avLst>
          </a:prstGeom>
          <a:solidFill>
            <a:schemeClr val="bg2"/>
          </a:solidFill>
          <a:ln w="12700">
            <a:solidFill>
              <a:schemeClr val="accent6"/>
            </a:solidFill>
            <a:prstDash val="solid"/>
          </a:ln>
          <a:effectLst>
            <a:outerShdw sx="100000" sy="100000" kx="0" ky="0" algn="bl" rotWithShape="0" blurRad="101600" dist="25400" dir="5400000">
              <a:srgbClr val="1A1838">
                <a:alpha val="12000"/>
              </a:srgbClr>
            </a:outerShdw>
          </a:effectLst>
        </p:spPr>
      </p:sp>
      <p:sp>
        <p:nvSpPr>
          <p:cNvPr id="24" name="Milestone 4 circle"/>
          <p:cNvSpPr/>
          <p:nvPr/>
        </p:nvSpPr>
        <p:spPr>
          <a:xfrm>
            <a:off x="5303520" y="5221224"/>
            <a:ext cx="512064" cy="512064"/>
          </a:xfrm>
          <a:prstGeom prst="ellipse">
            <a:avLst/>
          </a:prstGeom>
          <a:solidFill>
            <a:schemeClr val="accent2"/>
          </a:solidFill>
          <a:ln/>
        </p:spPr>
      </p:sp>
      <p:pic>
        <p:nvPicPr>
          <p:cNvPr id="25" name="Milestone 4 icon" descr="preencoded.png">    </p:cNvPr>
          <p:cNvPicPr>
            <a:picLocks noChangeAspect="1"/>
          </p:cNvPicPr>
          <p:nvPr/>
        </p:nvPicPr>
        <p:blipFill>
          <a:blip r:embed="rId5"/>
          <a:stretch>
            <a:fillRect/>
          </a:stretch>
        </p:blipFill>
        <p:spPr>
          <a:xfrm>
            <a:off x="5426415" y="5344119"/>
            <a:ext cx="266273" cy="266273"/>
          </a:xfrm>
          <a:prstGeom prst="rect">
            <a:avLst/>
          </a:prstGeom>
        </p:spPr>
      </p:pic>
      <p:sp>
        <p:nvSpPr>
          <p:cNvPr id="26" name="Text 19"/>
          <p:cNvSpPr txBox="1"/>
          <p:nvPr/>
        </p:nvSpPr>
        <p:spPr>
          <a:xfrm>
            <a:off x="6035040" y="5193792"/>
            <a:ext cx="5394960" cy="320040"/>
          </a:xfrm>
          <a:prstGeom prst="rect">
            <a:avLst/>
          </a:prstGeom>
          <a:noFill/>
          <a:ln/>
        </p:spPr>
        <p:txBody>
          <a:bodyPr wrap="square" lIns="0" tIns="0" rIns="0" bIns="0" rtlCol="0" anchor="t"/>
          <a:lstStyle/>
          <a:p>
            <a:pPr indent="0" marL="0">
              <a:buNone/>
            </a:pPr>
            <a:r>
              <a:rPr lang="en-US" sz="1700" b="1" dirty="0">
                <a:solidFill>
                  <a:schemeClr val="tx2"/>
                </a:solidFill>
              </a:rPr>
              <a:t>Ready for seed</a:t>
            </a:r>
            <a:endParaRPr lang="en-US" sz="1700" dirty="0"/>
          </a:p>
        </p:txBody>
      </p:sp>
      <p:sp>
        <p:nvSpPr>
          <p:cNvPr id="27" name="Text 20"/>
          <p:cNvSpPr txBox="1"/>
          <p:nvPr/>
        </p:nvSpPr>
        <p:spPr>
          <a:xfrm>
            <a:off x="6035040" y="5513832"/>
            <a:ext cx="5394960" cy="274320"/>
          </a:xfrm>
          <a:prstGeom prst="rect">
            <a:avLst/>
          </a:prstGeom>
          <a:noFill/>
          <a:ln/>
        </p:spPr>
        <p:txBody>
          <a:bodyPr wrap="square" lIns="0" tIns="0" rIns="0" bIns="0" rtlCol="0" anchor="t"/>
          <a:lstStyle/>
          <a:p>
            <a:pPr indent="0" marL="0">
              <a:buNone/>
            </a:pPr>
            <a:r>
              <a:rPr lang="en-US" sz="1300" dirty="0">
                <a:solidFill>
                  <a:schemeClr val="accent5"/>
                </a:solidFill>
              </a:rPr>
              <a:t>The numbers a seed investor needs to see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Logo circle"/>
          <p:cNvSpPr/>
          <p:nvPr/>
        </p:nvSpPr>
        <p:spPr>
          <a:xfrm>
            <a:off x="731520" y="548640"/>
            <a:ext cx="777240" cy="777240"/>
          </a:xfrm>
          <a:prstGeom prst="ellipse">
            <a:avLst/>
          </a:prstGeom>
          <a:solidFill>
            <a:schemeClr val="accent1"/>
          </a:solidFill>
          <a:ln/>
        </p:spPr>
      </p:sp>
      <p:pic>
        <p:nvPicPr>
          <p:cNvPr id="3" name="Logo icon" descr="preencoded.png">    </p:cNvPr>
          <p:cNvPicPr>
            <a:picLocks noChangeAspect="1"/>
          </p:cNvPicPr>
          <p:nvPr/>
        </p:nvPicPr>
        <p:blipFill>
          <a:blip r:embed="rId1"/>
          <a:stretch>
            <a:fillRect/>
          </a:stretch>
        </p:blipFill>
        <p:spPr>
          <a:xfrm>
            <a:off x="918058" y="735178"/>
            <a:ext cx="404165" cy="404165"/>
          </a:xfrm>
          <a:prstGeom prst="rect">
            <a:avLst/>
          </a:prstGeom>
        </p:spPr>
      </p:pic>
      <p:sp>
        <p:nvSpPr>
          <p:cNvPr id="4" name="Text 0"/>
          <p:cNvSpPr/>
          <p:nvPr>
            <p:ph idx="100" type="title" hasCustomPrompt="1"/>
          </p:nvPr>
        </p:nvSpPr>
        <p:spPr>
          <a:xfrm>
            <a:off x="731520" y="1600200"/>
            <a:ext cx="10698480" cy="1554480"/>
          </a:xfrm>
          <a:prstGeom prst="rect">
            <a:avLst/>
          </a:prstGeom>
          <a:noFill/>
          <a:ln/>
        </p:spPr>
        <p:txBody>
          <a:bodyPr wrap="square" lIns="0" tIns="0" rIns="0" bIns="0" rtlCol="0" anchor="b"/>
          <a:lstStyle/>
          <a:p>
            <a:pPr algn="l" indent="0" marL="0">
              <a:buNone/>
            </a:pPr>
            <a:r>
              <a:rPr lang="en-US" sz="4000" b="1" dirty="0">
                <a:solidFill>
                  <a:schemeClr val="bg1"/>
                </a:solidFill>
                <a:latin typeface="Arial" pitchFamily="34" charset="0"/>
                <a:ea typeface="Arial" pitchFamily="34" charset="-122"/>
                <a:cs typeface="Arial" pitchFamily="34" charset="-120"/>
              </a:rPr>
              <a:t>Every company deserves a brain it can trust</a:t>
            </a:r>
            <a:endParaRPr lang="en-US" sz="4000" dirty="0"/>
          </a:p>
        </p:txBody>
      </p:sp>
      <p:sp>
        <p:nvSpPr>
          <p:cNvPr id="5" name="Text 0"/>
          <p:cNvSpPr/>
          <p:nvPr>
            <p:ph idx="101" type="body" hasCustomPrompt="1"/>
          </p:nvPr>
        </p:nvSpPr>
        <p:spPr>
          <a:xfrm>
            <a:off x="731520" y="3429000"/>
            <a:ext cx="8686800" cy="1097280"/>
          </a:xfrm>
          <a:prstGeom prst="rect">
            <a:avLst/>
          </a:prstGeom>
          <a:noFill/>
          <a:ln/>
        </p:spPr>
        <p:txBody>
          <a:bodyPr wrap="square" lIns="0" tIns="0" rIns="0" bIns="0" rtlCol="0" anchor="t"/>
          <a:lstStyle/>
          <a:p>
            <a:pPr algn="l" indent="0" marL="0">
              <a:buNone/>
            </a:pPr>
            <a:r>
              <a:rPr lang="en-US" sz="1800" dirty="0">
                <a:solidFill>
                  <a:schemeClr val="accent6"/>
                </a:solidFill>
              </a:rPr>
              <a:t>If we get this right, every Sri Lankan SME, then every SME in South Asia, runs its daily work through governed agents, and its know-how never walks out the door.</a:t>
            </a:r>
            <a:endParaRPr lang="en-US" sz="1800" dirty="0"/>
          </a:p>
        </p:txBody>
      </p:sp>
      <p:sp>
        <p:nvSpPr>
          <p:cNvPr id="6" name="Text 3"/>
          <p:cNvSpPr txBox="1"/>
          <p:nvPr/>
        </p:nvSpPr>
        <p:spPr>
          <a:xfrm>
            <a:off x="731520" y="5074920"/>
            <a:ext cx="7315200" cy="1005840"/>
          </a:xfrm>
          <a:prstGeom prst="rect">
            <a:avLst/>
          </a:prstGeom>
          <a:noFill/>
          <a:ln/>
        </p:spPr>
        <p:txBody>
          <a:bodyPr wrap="square" lIns="0" tIns="0" rIns="0" bIns="0" rtlCol="0" anchor="t"/>
          <a:lstStyle/>
          <a:p>
            <a:pPr indent="0" marL="0">
              <a:spcAft>
                <a:spcPts val="200"/>
              </a:spcAft>
              <a:buNone/>
            </a:pPr>
            <a:r>
              <a:rPr lang="en-US" sz="1500" b="1" dirty="0">
                <a:solidFill>
                  <a:schemeClr val="bg1"/>
                </a:solidFill>
              </a:rPr>
              <a:t>Pamuditha Senanayake</a:t>
            </a:r>
            <a:endParaRPr lang="en-US" sz="1500" dirty="0"/>
          </a:p>
          <a:p>
            <a:pPr indent="0" marL="0">
              <a:spcAft>
                <a:spcPts val="200"/>
              </a:spcAft>
              <a:buNone/>
            </a:pPr>
            <a:r>
              <a:rPr lang="en-US" sz="1500" dirty="0">
                <a:solidFill>
                  <a:schemeClr val="bg1"/>
                </a:solidFill>
              </a:rPr>
              <a:t>Founder, Finebase Labs</a:t>
            </a:r>
            <a:endParaRPr lang="en-US" sz="1500" dirty="0"/>
          </a:p>
          <a:p>
            <a:pPr indent="0" marL="0">
              <a:spcAft>
                <a:spcPts val="200"/>
              </a:spcAft>
              <a:buNone/>
            </a:pPr>
            <a:r>
              <a:rPr lang="en-US" sz="1500" dirty="0">
                <a:solidFill>
                  <a:schemeClr val="bg1"/>
                </a:solidFill>
              </a:rPr>
              <a:t>senanayakepamuditha@gmail.com  ·  [ phone ]</a:t>
            </a:r>
            <a:endParaRPr lang="en-US" sz="1500" dirty="0"/>
          </a:p>
        </p:txBody>
      </p:sp>
    </p:spTree>
  </p:cSld>
  <p:clrMapOvr>
    <a:masterClrMapping/>
  </p:clrMapOvr>
</p:sld>
</file>

<file path=ppt/theme/theme1.xml><?xml version="1.0" encoding="utf-8"?>
<a:theme xmlns:a="http://schemas.openxmlformats.org/drawingml/2006/main" name="Company Brain">
  <a:themeElements>
    <a:clrScheme name="Company Brain">
      <a:dk1>
        <a:srgbClr val="1A1838"/>
      </a:dk1>
      <a:lt1>
        <a:srgbClr val="FFFFFF"/>
      </a:lt1>
      <a:dk2>
        <a:srgbClr val="2E2A6B"/>
      </a:dk2>
      <a:lt2>
        <a:srgbClr val="F2F1FA"/>
      </a:lt2>
      <a:accent1>
        <a:srgbClr val="5146E0"/>
      </a:accent1>
      <a:accent2>
        <a:srgbClr val="B3196F"/>
      </a:accent2>
      <a:accent3>
        <a:srgbClr val="0E9F6E"/>
      </a:accent3>
      <a:accent4>
        <a:srgbClr val="D9922B"/>
      </a:accent4>
      <a:accent5>
        <a:srgbClr val="6B6890"/>
      </a:accent5>
      <a:accent6>
        <a:srgbClr val="DCDAF2"/>
      </a:accent6>
      <a:hlink>
        <a:srgbClr val="5146E0"/>
      </a:hlink>
      <a:folHlink>
        <a:srgbClr val="B3196F"/>
      </a:folHlink>
    </a:clrScheme>
    <a:fontScheme name="Company Brai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Finebase Labs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Brain pitch deck</dc:title>
  <dc:subject>PptxGenJS Presentation</dc:subject>
  <dc:creator>Finebase Labs</dc:creator>
  <cp:lastModifiedBy>Finebase Labs</cp:lastModifiedBy>
  <cp:revision>1</cp:revision>
  <dcterms:created xsi:type="dcterms:W3CDTF">2026-10-14T15:41:07Z</dcterms:created>
  <dcterms:modified xsi:type="dcterms:W3CDTF">2026-10-14T15:41:07Z</dcterms:modified>
</cp:coreProperties>
</file>